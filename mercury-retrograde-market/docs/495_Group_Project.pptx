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1"/>
  </p:notesMasterIdLst>
  <p:sldIdLst>
    <p:sldId id="256" r:id="rId2"/>
    <p:sldId id="277" r:id="rId3"/>
    <p:sldId id="266" r:id="rId4"/>
    <p:sldId id="278" r:id="rId5"/>
    <p:sldId id="286" r:id="rId6"/>
    <p:sldId id="279" r:id="rId7"/>
    <p:sldId id="288" r:id="rId8"/>
    <p:sldId id="267" r:id="rId9"/>
    <p:sldId id="263" r:id="rId10"/>
    <p:sldId id="282" r:id="rId11"/>
    <p:sldId id="257" r:id="rId12"/>
    <p:sldId id="283" r:id="rId13"/>
    <p:sldId id="284" r:id="rId14"/>
    <p:sldId id="285" r:id="rId15"/>
    <p:sldId id="265" r:id="rId16"/>
    <p:sldId id="271" r:id="rId17"/>
    <p:sldId id="259" r:id="rId18"/>
    <p:sldId id="273" r:id="rId19"/>
    <p:sldId id="28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0367"/>
  </p:normalViewPr>
  <p:slideViewPr>
    <p:cSldViewPr snapToGrid="0">
      <p:cViewPr varScale="1">
        <p:scale>
          <a:sx n="102" d="100"/>
          <a:sy n="102" d="100"/>
        </p:scale>
        <p:origin x="95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279B3D-5537-1A4E-BA16-949F329E89A3}" type="datetimeFigureOut">
              <a:rPr lang="en-US" smtClean="0"/>
              <a:t>11/14/24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9D7291-2A5B-B746-A1B3-7F3E92D47FA0}" type="slidenum">
              <a:rPr lang="en-US" smtClean="0"/>
              <a:t>‹#›</a:t>
            </a:fld>
            <a:endParaRPr lang="en-US" dirty="0"/>
          </a:p>
        </p:txBody>
      </p:sp>
    </p:spTree>
    <p:extLst>
      <p:ext uri="{BB962C8B-B14F-4D97-AF65-F5344CB8AC3E}">
        <p14:creationId xmlns:p14="http://schemas.microsoft.com/office/powerpoint/2010/main" val="2907449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9D7291-2A5B-B746-A1B3-7F3E92D47FA0}" type="slidenum">
              <a:rPr lang="en-US" smtClean="0"/>
              <a:t>8</a:t>
            </a:fld>
            <a:endParaRPr lang="en-US" dirty="0"/>
          </a:p>
        </p:txBody>
      </p:sp>
    </p:spTree>
    <p:extLst>
      <p:ext uri="{BB962C8B-B14F-4D97-AF65-F5344CB8AC3E}">
        <p14:creationId xmlns:p14="http://schemas.microsoft.com/office/powerpoint/2010/main" val="1755105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9D7291-2A5B-B746-A1B3-7F3E92D47FA0}" type="slidenum">
              <a:rPr lang="en-US" smtClean="0"/>
              <a:t>18</a:t>
            </a:fld>
            <a:endParaRPr lang="en-US" dirty="0"/>
          </a:p>
        </p:txBody>
      </p:sp>
    </p:spTree>
    <p:extLst>
      <p:ext uri="{BB962C8B-B14F-4D97-AF65-F5344CB8AC3E}">
        <p14:creationId xmlns:p14="http://schemas.microsoft.com/office/powerpoint/2010/main" val="558746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6B4C57AC-11DC-6746-B40F-0597940DFD56}" type="datetimeFigureOut">
              <a:rPr lang="en-US" smtClean="0"/>
              <a:t>11/14/24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93F2B4C4-54AD-9D4F-A21C-F5C41E475A0D}" type="slidenum">
              <a:rPr lang="en-US" smtClean="0"/>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416078855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4C57AC-11DC-6746-B40F-0597940DFD56}" type="datetimeFigureOut">
              <a:rPr lang="en-US" smtClean="0"/>
              <a:t>11/14/24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2B4C4-54AD-9D4F-A21C-F5C41E475A0D}" type="slidenum">
              <a:rPr lang="en-US" smtClean="0"/>
              <a:t>‹#›</a:t>
            </a:fld>
            <a:endParaRPr lang="en-US" dirty="0"/>
          </a:p>
        </p:txBody>
      </p:sp>
    </p:spTree>
    <p:extLst>
      <p:ext uri="{BB962C8B-B14F-4D97-AF65-F5344CB8AC3E}">
        <p14:creationId xmlns:p14="http://schemas.microsoft.com/office/powerpoint/2010/main" val="1224521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6B4C57AC-11DC-6746-B40F-0597940DFD56}" type="datetimeFigureOut">
              <a:rPr lang="en-US" smtClean="0"/>
              <a:t>11/14/24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93F2B4C4-54AD-9D4F-A21C-F5C41E475A0D}" type="slidenum">
              <a:rPr lang="en-US" smtClean="0"/>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64365533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4C57AC-11DC-6746-B40F-0597940DFD56}" type="datetimeFigureOut">
              <a:rPr lang="en-US" smtClean="0"/>
              <a:t>11/14/24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3F2B4C4-54AD-9D4F-A21C-F5C41E475A0D}" type="slidenum">
              <a:rPr lang="en-US" smtClean="0"/>
              <a:t>‹#›</a:t>
            </a:fld>
            <a:endParaRPr lang="en-US" dirty="0"/>
          </a:p>
        </p:txBody>
      </p:sp>
    </p:spTree>
    <p:extLst>
      <p:ext uri="{BB962C8B-B14F-4D97-AF65-F5344CB8AC3E}">
        <p14:creationId xmlns:p14="http://schemas.microsoft.com/office/powerpoint/2010/main" val="1490864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4C57AC-11DC-6746-B40F-0597940DFD56}" type="datetimeFigureOut">
              <a:rPr lang="en-US" smtClean="0"/>
              <a:t>11/14/24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3F2B4C4-54AD-9D4F-A21C-F5C41E475A0D}" type="slidenum">
              <a:rPr lang="en-US" smtClean="0"/>
              <a:t>‹#›</a:t>
            </a:fld>
            <a:endParaRPr lang="en-US" dirty="0"/>
          </a:p>
        </p:txBody>
      </p:sp>
    </p:spTree>
    <p:extLst>
      <p:ext uri="{BB962C8B-B14F-4D97-AF65-F5344CB8AC3E}">
        <p14:creationId xmlns:p14="http://schemas.microsoft.com/office/powerpoint/2010/main" val="2547815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4C57AC-11DC-6746-B40F-0597940DFD56}" type="datetimeFigureOut">
              <a:rPr lang="en-US" smtClean="0"/>
              <a:t>11/14/24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3F2B4C4-54AD-9D4F-A21C-F5C41E475A0D}" type="slidenum">
              <a:rPr lang="en-US" smtClean="0"/>
              <a:t>‹#›</a:t>
            </a:fld>
            <a:endParaRPr lang="en-US" dirty="0"/>
          </a:p>
        </p:txBody>
      </p:sp>
    </p:spTree>
    <p:extLst>
      <p:ext uri="{BB962C8B-B14F-4D97-AF65-F5344CB8AC3E}">
        <p14:creationId xmlns:p14="http://schemas.microsoft.com/office/powerpoint/2010/main" val="3697429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4C57AC-11DC-6746-B40F-0597940DFD56}" type="datetimeFigureOut">
              <a:rPr lang="en-US" smtClean="0"/>
              <a:t>11/14/24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3F2B4C4-54AD-9D4F-A21C-F5C41E475A0D}" type="slidenum">
              <a:rPr lang="en-US" smtClean="0"/>
              <a:t>‹#›</a:t>
            </a:fld>
            <a:endParaRPr lang="en-US" dirty="0"/>
          </a:p>
        </p:txBody>
      </p:sp>
    </p:spTree>
    <p:extLst>
      <p:ext uri="{BB962C8B-B14F-4D97-AF65-F5344CB8AC3E}">
        <p14:creationId xmlns:p14="http://schemas.microsoft.com/office/powerpoint/2010/main" val="1693182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6B4C57AC-11DC-6746-B40F-0597940DFD56}" type="datetimeFigureOut">
              <a:rPr lang="en-US" smtClean="0"/>
              <a:t>11/14/24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3F2B4C4-54AD-9D4F-A21C-F5C41E475A0D}" type="slidenum">
              <a:rPr lang="en-US" smtClean="0"/>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6166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6B4C57AC-11DC-6746-B40F-0597940DFD56}" type="datetimeFigureOut">
              <a:rPr lang="en-US" smtClean="0"/>
              <a:t>11/14/24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3F2B4C4-54AD-9D4F-A21C-F5C41E475A0D}" type="slidenum">
              <a:rPr lang="en-US" smtClean="0"/>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84378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4C57AC-11DC-6746-B40F-0597940DFD56}" type="datetimeFigureOut">
              <a:rPr lang="en-US" smtClean="0"/>
              <a:t>11/14/24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2B4C4-54AD-9D4F-A21C-F5C41E475A0D}" type="slidenum">
              <a:rPr lang="en-US" smtClean="0"/>
              <a:t>‹#›</a:t>
            </a:fld>
            <a:endParaRPr lang="en-US" dirty="0"/>
          </a:p>
        </p:txBody>
      </p:sp>
    </p:spTree>
    <p:extLst>
      <p:ext uri="{BB962C8B-B14F-4D97-AF65-F5344CB8AC3E}">
        <p14:creationId xmlns:p14="http://schemas.microsoft.com/office/powerpoint/2010/main" val="143610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4C57AC-11DC-6746-B40F-0597940DFD56}" type="datetimeFigureOut">
              <a:rPr lang="en-US" smtClean="0"/>
              <a:t>11/14/24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2B4C4-54AD-9D4F-A21C-F5C41E475A0D}" type="slidenum">
              <a:rPr lang="en-US" smtClean="0"/>
              <a:t>‹#›</a:t>
            </a:fld>
            <a:endParaRPr lang="en-US" dirty="0"/>
          </a:p>
        </p:txBody>
      </p:sp>
    </p:spTree>
    <p:extLst>
      <p:ext uri="{BB962C8B-B14F-4D97-AF65-F5344CB8AC3E}">
        <p14:creationId xmlns:p14="http://schemas.microsoft.com/office/powerpoint/2010/main" val="1452274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6B4C57AC-11DC-6746-B40F-0597940DFD56}" type="datetimeFigureOut">
              <a:rPr lang="en-US" smtClean="0"/>
              <a:t>11/14/24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93F2B4C4-54AD-9D4F-A21C-F5C41E475A0D}" type="slidenum">
              <a:rPr lang="en-US" smtClean="0"/>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96516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D4E2E-A6D0-BF65-3351-A9CEECA868F2}"/>
              </a:ext>
            </a:extLst>
          </p:cNvPr>
          <p:cNvSpPr>
            <a:spLocks noGrp="1"/>
          </p:cNvSpPr>
          <p:nvPr>
            <p:ph type="ctrTitle"/>
          </p:nvPr>
        </p:nvSpPr>
        <p:spPr/>
        <p:txBody>
          <a:bodyPr>
            <a:normAutofit fontScale="90000"/>
          </a:bodyPr>
          <a:lstStyle/>
          <a:p>
            <a:r>
              <a:rPr lang="en-US" sz="4900" b="1" dirty="0"/>
              <a:t>MERCURY RETROGRADE EFFECT ON CAPITAL MARKET</a:t>
            </a:r>
            <a:br>
              <a:rPr lang="en-US" dirty="0"/>
            </a:br>
            <a:endParaRPr lang="en-US" dirty="0"/>
          </a:p>
        </p:txBody>
      </p:sp>
      <p:sp>
        <p:nvSpPr>
          <p:cNvPr id="3" name="Subtitle 2">
            <a:extLst>
              <a:ext uri="{FF2B5EF4-FFF2-40B4-BE49-F238E27FC236}">
                <a16:creationId xmlns:a16="http://schemas.microsoft.com/office/drawing/2014/main" id="{A9A2ACB1-6176-A38E-28E0-0C8E38963B97}"/>
              </a:ext>
            </a:extLst>
          </p:cNvPr>
          <p:cNvSpPr>
            <a:spLocks noGrp="1"/>
          </p:cNvSpPr>
          <p:nvPr>
            <p:ph type="subTitle" idx="1"/>
          </p:nvPr>
        </p:nvSpPr>
        <p:spPr/>
        <p:txBody>
          <a:bodyPr>
            <a:normAutofit/>
          </a:bodyPr>
          <a:lstStyle/>
          <a:p>
            <a:pPr algn="ctr"/>
            <a:r>
              <a:rPr lang="en-US" sz="2400" dirty="0"/>
              <a:t>Sherry Zhao, Qintong He, Qixiang Jie, Yaxuan Jin</a:t>
            </a:r>
          </a:p>
          <a:p>
            <a:endParaRPr lang="en-US" dirty="0"/>
          </a:p>
        </p:txBody>
      </p:sp>
    </p:spTree>
    <p:extLst>
      <p:ext uri="{BB962C8B-B14F-4D97-AF65-F5344CB8AC3E}">
        <p14:creationId xmlns:p14="http://schemas.microsoft.com/office/powerpoint/2010/main" val="2606297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690A-21BC-FA1A-7F9C-1EA860DA093A}"/>
              </a:ext>
            </a:extLst>
          </p:cNvPr>
          <p:cNvSpPr>
            <a:spLocks noGrp="1"/>
          </p:cNvSpPr>
          <p:nvPr>
            <p:ph type="title"/>
          </p:nvPr>
        </p:nvSpPr>
        <p:spPr/>
        <p:txBody>
          <a:bodyPr/>
          <a:lstStyle/>
          <a:p>
            <a:r>
              <a:rPr lang="en-US" b="1" dirty="0"/>
              <a:t>Catalog</a:t>
            </a:r>
          </a:p>
        </p:txBody>
      </p:sp>
      <p:sp>
        <p:nvSpPr>
          <p:cNvPr id="3" name="Content Placeholder 2">
            <a:extLst>
              <a:ext uri="{FF2B5EF4-FFF2-40B4-BE49-F238E27FC236}">
                <a16:creationId xmlns:a16="http://schemas.microsoft.com/office/drawing/2014/main" id="{38E72CC0-C0CD-7000-E6D4-432DAFFC6B1D}"/>
              </a:ext>
            </a:extLst>
          </p:cNvPr>
          <p:cNvSpPr>
            <a:spLocks noGrp="1"/>
          </p:cNvSpPr>
          <p:nvPr>
            <p:ph idx="1"/>
          </p:nvPr>
        </p:nvSpPr>
        <p:spPr/>
        <p:txBody>
          <a:bodyPr/>
          <a:lstStyle/>
          <a:p>
            <a:r>
              <a:rPr lang="en-US" altLang="zh-CN" dirty="0"/>
              <a:t>Astrology</a:t>
            </a:r>
            <a:r>
              <a:rPr lang="zh-CN" altLang="en-US" dirty="0"/>
              <a:t> </a:t>
            </a:r>
            <a:r>
              <a:rPr lang="en-US" dirty="0"/>
              <a:t>origins</a:t>
            </a:r>
          </a:p>
          <a:p>
            <a:r>
              <a:rPr lang="en-US" dirty="0"/>
              <a:t>Mercury Retrograde and the Stock Market</a:t>
            </a:r>
          </a:p>
          <a:p>
            <a:r>
              <a:rPr lang="en-US" dirty="0"/>
              <a:t>Hypothesis</a:t>
            </a:r>
          </a:p>
          <a:p>
            <a:r>
              <a:rPr lang="en-US" dirty="0"/>
              <a:t>Models &amp; Data &amp; Methodology</a:t>
            </a:r>
          </a:p>
          <a:p>
            <a:r>
              <a:rPr lang="en-US" dirty="0"/>
              <a:t>Results</a:t>
            </a:r>
          </a:p>
          <a:p>
            <a:r>
              <a:rPr lang="en-US" dirty="0"/>
              <a:t>Conclusions</a:t>
            </a:r>
          </a:p>
        </p:txBody>
      </p:sp>
    </p:spTree>
    <p:extLst>
      <p:ext uri="{BB962C8B-B14F-4D97-AF65-F5344CB8AC3E}">
        <p14:creationId xmlns:p14="http://schemas.microsoft.com/office/powerpoint/2010/main" val="2806073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B3FC1-118A-5CEB-6AF9-E451AFCABE70}"/>
              </a:ext>
            </a:extLst>
          </p:cNvPr>
          <p:cNvSpPr>
            <a:spLocks noGrp="1"/>
          </p:cNvSpPr>
          <p:nvPr>
            <p:ph type="title"/>
          </p:nvPr>
        </p:nvSpPr>
        <p:spPr/>
        <p:txBody>
          <a:bodyPr/>
          <a:lstStyle/>
          <a:p>
            <a:r>
              <a:rPr lang="en-US" b="1" dirty="0"/>
              <a:t>Mercury Retrograde</a:t>
            </a:r>
          </a:p>
        </p:txBody>
      </p:sp>
      <p:sp>
        <p:nvSpPr>
          <p:cNvPr id="3" name="Content Placeholder 2">
            <a:extLst>
              <a:ext uri="{FF2B5EF4-FFF2-40B4-BE49-F238E27FC236}">
                <a16:creationId xmlns:a16="http://schemas.microsoft.com/office/drawing/2014/main" id="{1D9BD3F9-C925-EB98-9304-896C1A8D3B38}"/>
              </a:ext>
            </a:extLst>
          </p:cNvPr>
          <p:cNvSpPr>
            <a:spLocks noGrp="1"/>
          </p:cNvSpPr>
          <p:nvPr>
            <p:ph idx="1"/>
          </p:nvPr>
        </p:nvSpPr>
        <p:spPr>
          <a:xfrm>
            <a:off x="1219200" y="1638300"/>
            <a:ext cx="5835482" cy="4649766"/>
          </a:xfrm>
        </p:spPr>
        <p:txBody>
          <a:bodyPr>
            <a:normAutofit/>
          </a:bodyPr>
          <a:lstStyle/>
          <a:p>
            <a:r>
              <a:rPr lang="en-US" dirty="0"/>
              <a:t>Astrology explanation</a:t>
            </a:r>
          </a:p>
          <a:p>
            <a:pPr lvl="1"/>
            <a:r>
              <a:rPr lang="en-US" dirty="0"/>
              <a:t>An optical illusion </a:t>
            </a:r>
          </a:p>
          <a:p>
            <a:pPr lvl="1"/>
            <a:r>
              <a:rPr lang="en-US" dirty="0"/>
              <a:t>All planets in the solar system move in the same direction around the sun, but because </a:t>
            </a:r>
            <a:r>
              <a:rPr lang="en-US" b="1" dirty="0"/>
              <a:t>Mercury’s orbit is shorter than ours </a:t>
            </a:r>
            <a:r>
              <a:rPr lang="en-US" dirty="0"/>
              <a:t>(88 days versus our 365), it “</a:t>
            </a:r>
            <a:r>
              <a:rPr lang="en-US" b="1" dirty="0"/>
              <a:t>laps</a:t>
            </a:r>
            <a:r>
              <a:rPr lang="en-US" dirty="0"/>
              <a:t>” the Earth a few times a year, and when it does so, it </a:t>
            </a:r>
            <a:r>
              <a:rPr lang="en-US" b="1" dirty="0"/>
              <a:t>appears to reverse course</a:t>
            </a:r>
          </a:p>
          <a:p>
            <a:r>
              <a:rPr lang="en-US" dirty="0"/>
              <a:t>Behavioral influence</a:t>
            </a:r>
          </a:p>
          <a:p>
            <a:pPr lvl="1"/>
            <a:r>
              <a:rPr lang="en-US" dirty="0"/>
              <a:t>Mercury rules </a:t>
            </a:r>
            <a:r>
              <a:rPr lang="en-US" b="1" dirty="0"/>
              <a:t>communication, travel, technology, and thought processes</a:t>
            </a:r>
            <a:r>
              <a:rPr lang="en-US" dirty="0"/>
              <a:t>, so when it goes retrograde, it's believed to disrupt these areas, creating confusion, delays, and misunderstandings</a:t>
            </a:r>
          </a:p>
          <a:p>
            <a:pPr lvl="1"/>
            <a:endParaRPr lang="en-US" dirty="0"/>
          </a:p>
        </p:txBody>
      </p:sp>
      <p:pic>
        <p:nvPicPr>
          <p:cNvPr id="4" name="Picture 3">
            <a:extLst>
              <a:ext uri="{FF2B5EF4-FFF2-40B4-BE49-F238E27FC236}">
                <a16:creationId xmlns:a16="http://schemas.microsoft.com/office/drawing/2014/main" id="{F678020E-9867-B44E-A40D-D0E7B50DCC43}"/>
              </a:ext>
            </a:extLst>
          </p:cNvPr>
          <p:cNvPicPr>
            <a:picLocks noChangeAspect="1"/>
          </p:cNvPicPr>
          <p:nvPr/>
        </p:nvPicPr>
        <p:blipFill>
          <a:blip r:embed="rId2"/>
          <a:stretch>
            <a:fillRect/>
          </a:stretch>
        </p:blipFill>
        <p:spPr>
          <a:xfrm>
            <a:off x="6967000" y="1681097"/>
            <a:ext cx="4960291" cy="3048002"/>
          </a:xfrm>
          <a:prstGeom prst="rect">
            <a:avLst/>
          </a:prstGeom>
        </p:spPr>
      </p:pic>
    </p:spTree>
    <p:extLst>
      <p:ext uri="{BB962C8B-B14F-4D97-AF65-F5344CB8AC3E}">
        <p14:creationId xmlns:p14="http://schemas.microsoft.com/office/powerpoint/2010/main" val="2119395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A8675-49BC-CF28-B139-9BC286E743F4}"/>
              </a:ext>
            </a:extLst>
          </p:cNvPr>
          <p:cNvSpPr>
            <a:spLocks noGrp="1"/>
          </p:cNvSpPr>
          <p:nvPr>
            <p:ph type="title"/>
          </p:nvPr>
        </p:nvSpPr>
        <p:spPr/>
        <p:txBody>
          <a:bodyPr/>
          <a:lstStyle/>
          <a:p>
            <a:r>
              <a:rPr lang="en-US" b="1" dirty="0"/>
              <a:t>Origins of astrology</a:t>
            </a:r>
            <a:br>
              <a:rPr lang="en-US" dirty="0"/>
            </a:br>
            <a:endParaRPr lang="en-US" dirty="0"/>
          </a:p>
        </p:txBody>
      </p:sp>
      <p:sp>
        <p:nvSpPr>
          <p:cNvPr id="3" name="Content Placeholder 2">
            <a:extLst>
              <a:ext uri="{FF2B5EF4-FFF2-40B4-BE49-F238E27FC236}">
                <a16:creationId xmlns:a16="http://schemas.microsoft.com/office/drawing/2014/main" id="{E87D769A-F12A-E2F5-30D7-B965212B000B}"/>
              </a:ext>
            </a:extLst>
          </p:cNvPr>
          <p:cNvSpPr>
            <a:spLocks noGrp="1"/>
          </p:cNvSpPr>
          <p:nvPr>
            <p:ph idx="1"/>
          </p:nvPr>
        </p:nvSpPr>
        <p:spPr>
          <a:xfrm>
            <a:off x="1371599" y="1503123"/>
            <a:ext cx="9901825" cy="4496843"/>
          </a:xfrm>
        </p:spPr>
        <p:txBody>
          <a:bodyPr>
            <a:normAutofit/>
          </a:bodyPr>
          <a:lstStyle/>
          <a:p>
            <a:pPr algn="just"/>
            <a:r>
              <a:rPr lang="en-US" b="1" dirty="0">
                <a:solidFill>
                  <a:srgbClr val="0E0E0E"/>
                </a:solidFill>
                <a:effectLst/>
                <a:latin typeface=".SF NS"/>
              </a:rPr>
              <a:t>Early Origins</a:t>
            </a:r>
            <a:r>
              <a:rPr lang="en-US" dirty="0">
                <a:solidFill>
                  <a:srgbClr val="0E0E0E"/>
                </a:solidFill>
                <a:effectLst/>
                <a:latin typeface=".SF NS"/>
              </a:rPr>
              <a:t>: Astrology originated thousands of years ago across multiple cultures as a way to understand natural phenomena, time, and human life.</a:t>
            </a:r>
          </a:p>
          <a:p>
            <a:pPr lvl="1" algn="just"/>
            <a:r>
              <a:rPr lang="en-US" b="1" dirty="0">
                <a:solidFill>
                  <a:srgbClr val="0E0E0E"/>
                </a:solidFill>
                <a:effectLst/>
                <a:latin typeface=".SF NS"/>
              </a:rPr>
              <a:t>Mesopotamia</a:t>
            </a:r>
            <a:r>
              <a:rPr lang="en-US" dirty="0">
                <a:solidFill>
                  <a:srgbClr val="0E0E0E"/>
                </a:solidFill>
                <a:effectLst/>
                <a:latin typeface=".SF NS"/>
              </a:rPr>
              <a:t> (around 3000 BCE): Among the first to systematically observe and record planetary movements. Believed celestial events impacted life on Earth, and by 1500 BCE, Babylonian astrologers developed horoscopes based on planetary positions.</a:t>
            </a:r>
          </a:p>
          <a:p>
            <a:pPr lvl="1" algn="just"/>
            <a:r>
              <a:rPr lang="en-US" b="1" dirty="0">
                <a:solidFill>
                  <a:srgbClr val="0E0E0E"/>
                </a:solidFill>
                <a:effectLst/>
                <a:latin typeface=".SF NS"/>
              </a:rPr>
              <a:t>Ancient Egypt</a:t>
            </a:r>
            <a:r>
              <a:rPr lang="en-US" dirty="0">
                <a:solidFill>
                  <a:srgbClr val="0E0E0E"/>
                </a:solidFill>
                <a:effectLst/>
                <a:latin typeface=".SF NS"/>
              </a:rPr>
              <a:t> (after 332 BCE): Egyptian astrology was influenced by Babylonian concepts, introducing the zodiac divided into twelve constellations and associating celestial bodies with deities.</a:t>
            </a:r>
          </a:p>
          <a:p>
            <a:pPr lvl="1" algn="just"/>
            <a:r>
              <a:rPr lang="en-US" b="1" dirty="0">
                <a:solidFill>
                  <a:srgbClr val="0E0E0E"/>
                </a:solidFill>
                <a:effectLst/>
                <a:latin typeface=".SF NS"/>
              </a:rPr>
              <a:t>Ancient Greece</a:t>
            </a:r>
            <a:r>
              <a:rPr lang="en-US" dirty="0">
                <a:solidFill>
                  <a:srgbClr val="0E0E0E"/>
                </a:solidFill>
                <a:effectLst/>
                <a:latin typeface=".SF NS"/>
              </a:rPr>
              <a:t> (2nd century BCE): Integrated Egyptian and Babylonian knowledge, formalizing astrology as a system. Ptolemy’s </a:t>
            </a:r>
            <a:r>
              <a:rPr lang="en-US" i="1" dirty="0">
                <a:solidFill>
                  <a:srgbClr val="0E0E0E"/>
                </a:solidFill>
                <a:effectLst/>
                <a:latin typeface=".SF NS"/>
              </a:rPr>
              <a:t>Tetrabiblos</a:t>
            </a:r>
            <a:r>
              <a:rPr lang="en-US" dirty="0">
                <a:solidFill>
                  <a:srgbClr val="0E0E0E"/>
                </a:solidFill>
                <a:effectLst/>
                <a:latin typeface=".SF NS"/>
              </a:rPr>
              <a:t> became a cornerstone of Western astrology.</a:t>
            </a:r>
          </a:p>
          <a:p>
            <a:pPr marL="0" indent="0" algn="just">
              <a:buNone/>
            </a:pPr>
            <a:r>
              <a:rPr lang="en-US" dirty="0">
                <a:solidFill>
                  <a:srgbClr val="0E0E0E"/>
                </a:solidFill>
                <a:effectLst/>
                <a:latin typeface=".SF NS"/>
              </a:rPr>
              <a:t>.</a:t>
            </a:r>
          </a:p>
          <a:p>
            <a:endParaRPr lang="en-US" dirty="0"/>
          </a:p>
        </p:txBody>
      </p:sp>
    </p:spTree>
    <p:extLst>
      <p:ext uri="{BB962C8B-B14F-4D97-AF65-F5344CB8AC3E}">
        <p14:creationId xmlns:p14="http://schemas.microsoft.com/office/powerpoint/2010/main" val="44085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92456-6943-06A9-CA9A-E53239CDCC7C}"/>
              </a:ext>
            </a:extLst>
          </p:cNvPr>
          <p:cNvSpPr>
            <a:spLocks noGrp="1"/>
          </p:cNvSpPr>
          <p:nvPr>
            <p:ph type="title"/>
          </p:nvPr>
        </p:nvSpPr>
        <p:spPr/>
        <p:txBody>
          <a:bodyPr/>
          <a:lstStyle/>
          <a:p>
            <a:r>
              <a:rPr lang="en-US" b="1" dirty="0"/>
              <a:t>The</a:t>
            </a:r>
            <a:r>
              <a:rPr lang="zh-CN" altLang="en-US" b="1" dirty="0"/>
              <a:t> </a:t>
            </a:r>
            <a:r>
              <a:rPr lang="en-US" altLang="zh-CN" b="1" dirty="0"/>
              <a:t>spread</a:t>
            </a:r>
            <a:r>
              <a:rPr lang="zh-CN" altLang="en-US" b="1" dirty="0"/>
              <a:t> </a:t>
            </a:r>
            <a:r>
              <a:rPr lang="en-US" altLang="zh-CN" b="1" dirty="0"/>
              <a:t>of astrology</a:t>
            </a:r>
            <a:endParaRPr lang="en-US" b="1" dirty="0"/>
          </a:p>
        </p:txBody>
      </p:sp>
      <p:sp>
        <p:nvSpPr>
          <p:cNvPr id="3" name="Content Placeholder 2">
            <a:extLst>
              <a:ext uri="{FF2B5EF4-FFF2-40B4-BE49-F238E27FC236}">
                <a16:creationId xmlns:a16="http://schemas.microsoft.com/office/drawing/2014/main" id="{D94EB6D6-39CE-DA98-852B-12F1C2AC49EA}"/>
              </a:ext>
            </a:extLst>
          </p:cNvPr>
          <p:cNvSpPr>
            <a:spLocks noGrp="1"/>
          </p:cNvSpPr>
          <p:nvPr>
            <p:ph idx="1"/>
          </p:nvPr>
        </p:nvSpPr>
        <p:spPr>
          <a:xfrm>
            <a:off x="1219200" y="1616641"/>
            <a:ext cx="9601200" cy="4414381"/>
          </a:xfrm>
        </p:spPr>
        <p:txBody>
          <a:bodyPr>
            <a:normAutofit lnSpcReduction="10000"/>
          </a:bodyPr>
          <a:lstStyle/>
          <a:p>
            <a:r>
              <a:rPr lang="en-US" sz="1800" b="1" dirty="0">
                <a:effectLst/>
                <a:latin typeface="Aptos" panose="020B0004020202020204" pitchFamily="34" charset="0"/>
                <a:ea typeface="DengXian" panose="02010600030101010101" pitchFamily="2" charset="-122"/>
                <a:cs typeface="Times New Roman" panose="02020603050405020304" pitchFamily="18" charset="0"/>
              </a:rPr>
              <a:t>After Alexander the Great conquered Asia, the Greeks were exposed to the cultures and cosmologies of Syria, Babylon, Persia, and Central Asia.</a:t>
            </a:r>
            <a:r>
              <a:rPr lang="en-US" sz="1600" b="1" dirty="0">
                <a:effectLst/>
              </a:rPr>
              <a:t> </a:t>
            </a:r>
            <a:endParaRPr lang="en-US" sz="1800" b="1" dirty="0">
              <a:solidFill>
                <a:srgbClr val="202122"/>
              </a:solidFill>
              <a:latin typeface="Arial" panose="020B0604020202020204" pitchFamily="34" charset="0"/>
              <a:ea typeface="DengXian" panose="02010600030101010101" pitchFamily="2" charset="-122"/>
            </a:endParaRPr>
          </a:p>
          <a:p>
            <a:r>
              <a:rPr lang="en-US" sz="1800" b="1" dirty="0">
                <a:solidFill>
                  <a:srgbClr val="202122"/>
                </a:solidFill>
                <a:latin typeface="Arial" panose="020B0604020202020204" pitchFamily="34" charset="0"/>
                <a:ea typeface="DengXian" panose="02010600030101010101" pitchFamily="2" charset="-122"/>
              </a:rPr>
              <a:t>Islamic World</a:t>
            </a:r>
          </a:p>
          <a:p>
            <a:pPr lvl="1"/>
            <a:r>
              <a:rPr lang="en-US" sz="1800" dirty="0">
                <a:effectLst/>
                <a:latin typeface="Aptos" panose="020B0004020202020204" pitchFamily="34" charset="0"/>
                <a:ea typeface="DengXian" panose="02010600030101010101" pitchFamily="2" charset="-122"/>
                <a:cs typeface="Times New Roman" panose="02020603050405020304" pitchFamily="18" charset="0"/>
              </a:rPr>
              <a:t>In the 7th century, Alexandria was captured by the Arabs and the city of Baghdad was established as a center of learning, and a library and translation center was established in the city, which greatly facilitated the </a:t>
            </a:r>
            <a:r>
              <a:rPr lang="en-US" sz="1800" b="1" dirty="0">
                <a:effectLst/>
                <a:latin typeface="Aptos" panose="020B0004020202020204" pitchFamily="34" charset="0"/>
                <a:ea typeface="DengXian" panose="02010600030101010101" pitchFamily="2" charset="-122"/>
                <a:cs typeface="Times New Roman" panose="02020603050405020304" pitchFamily="18" charset="0"/>
              </a:rPr>
              <a:t>translation of Greek astrological texts into Arabic</a:t>
            </a:r>
            <a:r>
              <a:rPr lang="en-US" sz="1800" dirty="0">
                <a:effectLst/>
                <a:latin typeface="Aptos" panose="020B0004020202020204" pitchFamily="34" charset="0"/>
                <a:ea typeface="DengXian" panose="02010600030101010101" pitchFamily="2" charset="-122"/>
                <a:cs typeface="Times New Roman" panose="02020603050405020304" pitchFamily="18" charset="0"/>
              </a:rPr>
              <a:t>. </a:t>
            </a:r>
          </a:p>
          <a:p>
            <a:r>
              <a:rPr lang="en-US" sz="1800" b="1" kern="1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t>Medieval and Renaissance Europe</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lvl="1"/>
            <a:r>
              <a:rPr lang="en-US" sz="1800" dirty="0">
                <a:effectLst/>
                <a:latin typeface="Aptos" panose="020B0004020202020204" pitchFamily="34" charset="0"/>
                <a:ea typeface="DengXian" panose="02010600030101010101" pitchFamily="2" charset="-122"/>
                <a:cs typeface="Times New Roman" panose="02020603050405020304" pitchFamily="18" charset="0"/>
              </a:rPr>
              <a:t>By the end of the 10th century</a:t>
            </a:r>
            <a:r>
              <a:rPr lang="zh-CN" altLang="en-US" sz="1800" b="1" dirty="0">
                <a:effectLst/>
                <a:latin typeface="Aptos" panose="020B0004020202020204" pitchFamily="34" charset="0"/>
                <a:ea typeface="DengXian" panose="02010600030101010101" pitchFamily="2" charset="-122"/>
                <a:cs typeface="Times New Roman" panose="02020603050405020304" pitchFamily="18" charset="0"/>
              </a:rPr>
              <a:t>，</a:t>
            </a:r>
            <a:r>
              <a:rPr lang="en-US" sz="1800" b="1" dirty="0">
                <a:effectLst/>
                <a:latin typeface="Aptos" panose="020B0004020202020204" pitchFamily="34" charset="0"/>
                <a:ea typeface="DengXian" panose="02010600030101010101" pitchFamily="2" charset="-122"/>
                <a:cs typeface="Times New Roman" panose="02020603050405020304" pitchFamily="18" charset="0"/>
              </a:rPr>
              <a:t> Latin translations of Arabic works </a:t>
            </a:r>
            <a:r>
              <a:rPr lang="en-US" sz="1800" dirty="0">
                <a:effectLst/>
                <a:latin typeface="Aptos" panose="020B0004020202020204" pitchFamily="34" charset="0"/>
                <a:ea typeface="DengXian" panose="02010600030101010101" pitchFamily="2" charset="-122"/>
                <a:cs typeface="Times New Roman" panose="02020603050405020304" pitchFamily="18" charset="0"/>
              </a:rPr>
              <a:t>began to reach Spain, and in the 12th century, the spread of Arabic astrological works to Europe "gained great momentum.</a:t>
            </a:r>
            <a:r>
              <a:rPr lang="en-US" sz="1600" dirty="0">
                <a:effectLst/>
              </a:rPr>
              <a:t> </a:t>
            </a:r>
            <a:endParaRPr lang="en-US" sz="1800" b="1" dirty="0">
              <a:solidFill>
                <a:srgbClr val="202122"/>
              </a:solidFill>
              <a:effectLst/>
              <a:latin typeface="Arial" panose="020B0604020202020204" pitchFamily="34" charset="0"/>
              <a:ea typeface="DengXian" panose="02010600030101010101" pitchFamily="2" charset="-122"/>
            </a:endParaRPr>
          </a:p>
          <a:p>
            <a:r>
              <a:rPr lang="en-US" sz="1800" b="1" dirty="0">
                <a:solidFill>
                  <a:srgbClr val="202122"/>
                </a:solidFill>
                <a:latin typeface="Arial" panose="020B0604020202020204" pitchFamily="34" charset="0"/>
                <a:ea typeface="DengXian" panose="02010600030101010101" pitchFamily="2" charset="-122"/>
              </a:rPr>
              <a:t>Asia</a:t>
            </a:r>
          </a:p>
          <a:p>
            <a:pPr lvl="1"/>
            <a:r>
              <a:rPr lang="en-US" sz="1800" b="1" dirty="0">
                <a:solidFill>
                  <a:srgbClr val="202122"/>
                </a:solidFill>
                <a:effectLst/>
                <a:latin typeface="Arial" panose="020B0604020202020204" pitchFamily="34" charset="0"/>
                <a:ea typeface="DengXian" panose="02010600030101010101" pitchFamily="2" charset="-122"/>
              </a:rPr>
              <a:t> Cultural integration and globalization</a:t>
            </a:r>
            <a:r>
              <a:rPr lang="en-US" sz="1800" dirty="0">
                <a:solidFill>
                  <a:srgbClr val="202122"/>
                </a:solidFill>
                <a:effectLst/>
                <a:latin typeface="Arial" panose="020B0604020202020204" pitchFamily="34" charset="0"/>
                <a:ea typeface="DengXian" panose="02010600030101010101" pitchFamily="2" charset="-122"/>
              </a:rPr>
              <a:t>: Astrology originally originated in the West, but with the development of globalization, western astrology has become popular in Asia through movies, TV dramas, social media and other ways.</a:t>
            </a:r>
            <a:r>
              <a:rPr lang="en-US" sz="1600" dirty="0">
                <a:effectLst/>
              </a:rPr>
              <a:t> </a:t>
            </a:r>
            <a:endParaRPr lang="en-US" sz="1800" b="1" dirty="0">
              <a:solidFill>
                <a:srgbClr val="202122"/>
              </a:solidFill>
              <a:latin typeface="Arial" panose="020B0604020202020204" pitchFamily="34" charset="0"/>
              <a:ea typeface="DengXian" panose="02010600030101010101" pitchFamily="2" charset="-122"/>
            </a:endParaRPr>
          </a:p>
          <a:p>
            <a:endParaRPr lang="en-US" sz="1800" b="1" dirty="0">
              <a:solidFill>
                <a:srgbClr val="202122"/>
              </a:solidFill>
              <a:latin typeface="Arial" panose="020B0604020202020204" pitchFamily="34" charset="0"/>
              <a:ea typeface="DengXian" panose="02010600030101010101" pitchFamily="2" charset="-122"/>
            </a:endParaRPr>
          </a:p>
        </p:txBody>
      </p:sp>
    </p:spTree>
    <p:extLst>
      <p:ext uri="{BB962C8B-B14F-4D97-AF65-F5344CB8AC3E}">
        <p14:creationId xmlns:p14="http://schemas.microsoft.com/office/powerpoint/2010/main" val="2148646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6EC-B52F-EA2E-F08D-E8D11C88E42A}"/>
              </a:ext>
            </a:extLst>
          </p:cNvPr>
          <p:cNvSpPr>
            <a:spLocks noGrp="1"/>
          </p:cNvSpPr>
          <p:nvPr>
            <p:ph type="title"/>
          </p:nvPr>
        </p:nvSpPr>
        <p:spPr/>
        <p:txBody>
          <a:bodyPr/>
          <a:lstStyle/>
          <a:p>
            <a:r>
              <a:rPr lang="en-US" b="1" dirty="0"/>
              <a:t>Mercury Retrograde</a:t>
            </a:r>
          </a:p>
        </p:txBody>
      </p:sp>
      <p:sp>
        <p:nvSpPr>
          <p:cNvPr id="3" name="Content Placeholder 2">
            <a:extLst>
              <a:ext uri="{FF2B5EF4-FFF2-40B4-BE49-F238E27FC236}">
                <a16:creationId xmlns:a16="http://schemas.microsoft.com/office/drawing/2014/main" id="{E838BB5D-D5DA-46D7-3286-D2593807FFFB}"/>
              </a:ext>
            </a:extLst>
          </p:cNvPr>
          <p:cNvSpPr>
            <a:spLocks noGrp="1"/>
          </p:cNvSpPr>
          <p:nvPr>
            <p:ph idx="1"/>
          </p:nvPr>
        </p:nvSpPr>
        <p:spPr>
          <a:xfrm>
            <a:off x="1371600" y="1647173"/>
            <a:ext cx="9601200" cy="4352794"/>
          </a:xfrm>
        </p:spPr>
        <p:txBody>
          <a:bodyPr>
            <a:normAutofit/>
          </a:bodyPr>
          <a:lstStyle/>
          <a:p>
            <a:pPr algn="just"/>
            <a:r>
              <a:rPr lang="en-US" b="1" dirty="0">
                <a:solidFill>
                  <a:srgbClr val="0E0E0E"/>
                </a:solidFill>
                <a:effectLst/>
                <a:latin typeface=".SF NS"/>
              </a:rPr>
              <a:t>Source of Symbolism</a:t>
            </a:r>
            <a:r>
              <a:rPr lang="en-US" dirty="0">
                <a:solidFill>
                  <a:srgbClr val="0E0E0E"/>
                </a:solidFill>
                <a:effectLst/>
                <a:latin typeface=".SF NS"/>
              </a:rPr>
              <a:t>: The special symbolism of Mercury retrograde primarily comes from </a:t>
            </a:r>
            <a:r>
              <a:rPr lang="en-US" b="1" dirty="0">
                <a:solidFill>
                  <a:srgbClr val="0E0E0E"/>
                </a:solidFill>
                <a:effectLst/>
                <a:latin typeface=".SF NS"/>
              </a:rPr>
              <a:t>Western astrology</a:t>
            </a:r>
            <a:r>
              <a:rPr lang="en-US" dirty="0">
                <a:solidFill>
                  <a:srgbClr val="0E0E0E"/>
                </a:solidFill>
                <a:effectLst/>
                <a:latin typeface=".SF NS"/>
              </a:rPr>
              <a:t>, particularly the </a:t>
            </a:r>
            <a:r>
              <a:rPr lang="en-US" b="1" dirty="0">
                <a:solidFill>
                  <a:srgbClr val="0E0E0E"/>
                </a:solidFill>
                <a:effectLst/>
                <a:latin typeface=".SF NS"/>
              </a:rPr>
              <a:t>Greco-Roman</a:t>
            </a:r>
            <a:r>
              <a:rPr lang="en-US" dirty="0">
                <a:solidFill>
                  <a:srgbClr val="0E0E0E"/>
                </a:solidFill>
                <a:effectLst/>
                <a:latin typeface=".SF NS"/>
              </a:rPr>
              <a:t> tradition.</a:t>
            </a:r>
          </a:p>
          <a:p>
            <a:pPr lvl="1" algn="just"/>
            <a:r>
              <a:rPr lang="en-US" b="1" dirty="0">
                <a:solidFill>
                  <a:srgbClr val="0E0E0E"/>
                </a:solidFill>
                <a:effectLst/>
                <a:latin typeface=".SF NS"/>
              </a:rPr>
              <a:t>Connection to Human Life</a:t>
            </a:r>
            <a:r>
              <a:rPr lang="en-US" dirty="0">
                <a:solidFill>
                  <a:srgbClr val="0E0E0E"/>
                </a:solidFill>
                <a:effectLst/>
                <a:latin typeface=".SF NS"/>
              </a:rPr>
              <a:t>: Greek and Roman cultures linked planetary movements to various aspects of life, believing that planets’ forward and retrograde states could influence events on Earth.</a:t>
            </a:r>
          </a:p>
          <a:p>
            <a:pPr lvl="1" algn="just"/>
            <a:r>
              <a:rPr lang="en-US" b="1" dirty="0">
                <a:solidFill>
                  <a:srgbClr val="0E0E0E"/>
                </a:solidFill>
                <a:effectLst/>
                <a:latin typeface=".SF NS"/>
              </a:rPr>
              <a:t>Symbolism of Mercury Retrograde</a:t>
            </a:r>
            <a:r>
              <a:rPr lang="en-US" dirty="0">
                <a:solidFill>
                  <a:srgbClr val="0E0E0E"/>
                </a:solidFill>
                <a:effectLst/>
                <a:latin typeface=".SF NS"/>
              </a:rPr>
              <a:t>: During the Greco-Roman period, Mercury was </a:t>
            </a:r>
            <a:r>
              <a:rPr lang="en-US" b="1" dirty="0">
                <a:solidFill>
                  <a:srgbClr val="0E0E0E"/>
                </a:solidFill>
                <a:effectLst/>
                <a:latin typeface=".SF NS"/>
              </a:rPr>
              <a:t>associated with communication, travel, commerce, and thought</a:t>
            </a:r>
            <a:r>
              <a:rPr lang="en-US" dirty="0">
                <a:solidFill>
                  <a:srgbClr val="0E0E0E"/>
                </a:solidFill>
                <a:effectLst/>
                <a:latin typeface=".SF NS"/>
              </a:rPr>
              <a:t>. Mercury retrograde was believed to </a:t>
            </a:r>
            <a:r>
              <a:rPr lang="en-US" b="1" dirty="0">
                <a:solidFill>
                  <a:srgbClr val="0E0E0E"/>
                </a:solidFill>
                <a:effectLst/>
                <a:latin typeface=".SF NS"/>
              </a:rPr>
              <a:t>cause potential disruptions in these areas</a:t>
            </a:r>
            <a:r>
              <a:rPr lang="en-US" dirty="0">
                <a:solidFill>
                  <a:srgbClr val="0E0E0E"/>
                </a:solidFill>
                <a:effectLst/>
                <a:latin typeface=".SF NS"/>
              </a:rPr>
              <a:t>, like miscommunication or delays in travel and business.</a:t>
            </a:r>
          </a:p>
          <a:p>
            <a:pPr algn="just"/>
            <a:r>
              <a:rPr lang="en-US" dirty="0">
                <a:solidFill>
                  <a:srgbClr val="0E0E0E"/>
                </a:solidFill>
                <a:effectLst/>
                <a:latin typeface=".SF NS"/>
              </a:rPr>
              <a:t>The interpretation of Mercury retrograde continued to develop during the Middle Ages and became part of the Western astrological system, evolving into a popular </a:t>
            </a:r>
            <a:r>
              <a:rPr lang="en-US" b="1" dirty="0">
                <a:solidFill>
                  <a:srgbClr val="0E0E0E"/>
                </a:solidFill>
                <a:effectLst/>
                <a:latin typeface=".SF NS"/>
              </a:rPr>
              <a:t>modern astrological concept</a:t>
            </a:r>
            <a:r>
              <a:rPr lang="en-US" dirty="0">
                <a:solidFill>
                  <a:srgbClr val="0E0E0E"/>
                </a:solidFill>
                <a:effectLst/>
                <a:latin typeface=".SF NS"/>
              </a:rPr>
              <a:t>.</a:t>
            </a:r>
          </a:p>
          <a:p>
            <a:endParaRPr lang="en-US" dirty="0"/>
          </a:p>
        </p:txBody>
      </p:sp>
    </p:spTree>
    <p:extLst>
      <p:ext uri="{BB962C8B-B14F-4D97-AF65-F5344CB8AC3E}">
        <p14:creationId xmlns:p14="http://schemas.microsoft.com/office/powerpoint/2010/main" val="1202639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37F3B-66A2-E4DB-7E27-51AA0F0BC387}"/>
              </a:ext>
            </a:extLst>
          </p:cNvPr>
          <p:cNvSpPr>
            <a:spLocks noGrp="1"/>
          </p:cNvSpPr>
          <p:nvPr>
            <p:ph type="title"/>
          </p:nvPr>
        </p:nvSpPr>
        <p:spPr/>
        <p:txBody>
          <a:bodyPr/>
          <a:lstStyle/>
          <a:p>
            <a:r>
              <a:rPr lang="en-US" b="1" dirty="0"/>
              <a:t>Mercury Retrograde in Modern Times</a:t>
            </a:r>
          </a:p>
        </p:txBody>
      </p:sp>
      <p:sp>
        <p:nvSpPr>
          <p:cNvPr id="3" name="Content Placeholder 2">
            <a:extLst>
              <a:ext uri="{FF2B5EF4-FFF2-40B4-BE49-F238E27FC236}">
                <a16:creationId xmlns:a16="http://schemas.microsoft.com/office/drawing/2014/main" id="{77763076-6765-238A-0244-4CD5138CC035}"/>
              </a:ext>
            </a:extLst>
          </p:cNvPr>
          <p:cNvSpPr>
            <a:spLocks noGrp="1"/>
          </p:cNvSpPr>
          <p:nvPr>
            <p:ph idx="1"/>
          </p:nvPr>
        </p:nvSpPr>
        <p:spPr>
          <a:xfrm>
            <a:off x="1371600" y="1828800"/>
            <a:ext cx="9601200" cy="4038600"/>
          </a:xfrm>
        </p:spPr>
        <p:txBody>
          <a:bodyPr/>
          <a:lstStyle/>
          <a:p>
            <a:r>
              <a:rPr lang="en-US" dirty="0">
                <a:latin typeface="Times New Roman" panose="02020603050405020304" pitchFamily="18" charset="0"/>
              </a:rPr>
              <a:t>The a</a:t>
            </a:r>
            <a:r>
              <a:rPr lang="en-US" dirty="0">
                <a:effectLst/>
                <a:latin typeface="Times New Roman" panose="02020603050405020304" pitchFamily="18" charset="0"/>
              </a:rPr>
              <a:t>strological belief has been bonding </a:t>
            </a:r>
            <a:r>
              <a:rPr lang="en-US" b="1" dirty="0">
                <a:effectLst/>
                <a:latin typeface="Times New Roman" panose="02020603050405020304" pitchFamily="18" charset="0"/>
              </a:rPr>
              <a:t>with ancient Greek mythology</a:t>
            </a:r>
            <a:r>
              <a:rPr lang="en-US" dirty="0">
                <a:effectLst/>
                <a:latin typeface="Times New Roman" panose="02020603050405020304" pitchFamily="18" charset="0"/>
              </a:rPr>
              <a:t>. Hence, the </a:t>
            </a:r>
            <a:r>
              <a:rPr lang="en-US" b="1" dirty="0">
                <a:effectLst/>
                <a:latin typeface="Times New Roman" panose="02020603050405020304" pitchFamily="18" charset="0"/>
              </a:rPr>
              <a:t>name and roles of the planets come from Greek gods</a:t>
            </a:r>
            <a:r>
              <a:rPr lang="en-US" dirty="0">
                <a:effectLst/>
                <a:latin typeface="Times New Roman" panose="02020603050405020304" pitchFamily="18" charset="0"/>
              </a:rPr>
              <a:t>. </a:t>
            </a:r>
          </a:p>
          <a:p>
            <a:endParaRPr lang="en-US" dirty="0">
              <a:latin typeface="Times New Roman" panose="02020603050405020304" pitchFamily="18" charset="0"/>
            </a:endParaRPr>
          </a:p>
          <a:p>
            <a:endParaRPr lang="en-US" b="1" dirty="0">
              <a:effectLst/>
              <a:latin typeface="Times New Roman" panose="02020603050405020304" pitchFamily="18" charset="0"/>
            </a:endParaRPr>
          </a:p>
          <a:p>
            <a:pPr marL="0" indent="0" algn="ctr">
              <a:buNone/>
            </a:pPr>
            <a:r>
              <a:rPr lang="en-US" sz="3200" b="1" dirty="0">
                <a:effectLst/>
                <a:latin typeface="Times New Roman" panose="02020603050405020304" pitchFamily="18" charset="0"/>
              </a:rPr>
              <a:t>“Mercury Is in Retrograde. Don’t Be Alarmed.” </a:t>
            </a:r>
          </a:p>
          <a:p>
            <a:pPr marL="0" indent="0" algn="ctr">
              <a:buNone/>
            </a:pPr>
            <a:r>
              <a:rPr lang="en-US" sz="3200" b="1" dirty="0">
                <a:effectLst/>
                <a:latin typeface="Times New Roman" panose="02020603050405020304" pitchFamily="18" charset="0"/>
              </a:rPr>
              <a:t>– Mar 16, 2019, The New York Times </a:t>
            </a:r>
          </a:p>
          <a:p>
            <a:pPr marL="0" indent="0" algn="ctr">
              <a:buNone/>
            </a:pPr>
            <a:endParaRPr lang="en-US" sz="3200" dirty="0">
              <a:effectLst/>
              <a:latin typeface="Times New Roman" panose="02020603050405020304" pitchFamily="18" charset="0"/>
            </a:endParaRPr>
          </a:p>
          <a:p>
            <a:endParaRPr lang="en-US" dirty="0">
              <a:effectLst/>
              <a:latin typeface="Times New Roman" panose="02020603050405020304" pitchFamily="18" charset="0"/>
            </a:endParaRPr>
          </a:p>
          <a:p>
            <a:endParaRPr lang="en-US" dirty="0"/>
          </a:p>
        </p:txBody>
      </p:sp>
    </p:spTree>
    <p:extLst>
      <p:ext uri="{BB962C8B-B14F-4D97-AF65-F5344CB8AC3E}">
        <p14:creationId xmlns:p14="http://schemas.microsoft.com/office/powerpoint/2010/main" val="551199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E6D8D-44F8-B925-1952-A5EA221D00C8}"/>
              </a:ext>
            </a:extLst>
          </p:cNvPr>
          <p:cNvSpPr>
            <a:spLocks noGrp="1"/>
          </p:cNvSpPr>
          <p:nvPr>
            <p:ph type="title"/>
          </p:nvPr>
        </p:nvSpPr>
        <p:spPr/>
        <p:txBody>
          <a:bodyPr/>
          <a:lstStyle/>
          <a:p>
            <a:r>
              <a:rPr lang="en-US" b="1" dirty="0"/>
              <a:t>Mercury Retrograde and the stock market</a:t>
            </a:r>
          </a:p>
        </p:txBody>
      </p:sp>
      <p:sp>
        <p:nvSpPr>
          <p:cNvPr id="3" name="Content Placeholder 2">
            <a:extLst>
              <a:ext uri="{FF2B5EF4-FFF2-40B4-BE49-F238E27FC236}">
                <a16:creationId xmlns:a16="http://schemas.microsoft.com/office/drawing/2014/main" id="{0516997F-4BB6-D333-2D58-7F8418D66C9F}"/>
              </a:ext>
            </a:extLst>
          </p:cNvPr>
          <p:cNvSpPr>
            <a:spLocks noGrp="1"/>
          </p:cNvSpPr>
          <p:nvPr>
            <p:ph idx="1"/>
          </p:nvPr>
        </p:nvSpPr>
        <p:spPr/>
        <p:txBody>
          <a:bodyPr/>
          <a:lstStyle/>
          <a:p>
            <a:r>
              <a:rPr lang="en-US" dirty="0"/>
              <a:t>What do investors do during Mercury retrograde?</a:t>
            </a:r>
          </a:p>
          <a:p>
            <a:pPr lvl="1"/>
            <a:r>
              <a:rPr lang="en-US" b="0" i="0" dirty="0">
                <a:solidFill>
                  <a:srgbClr val="000000"/>
                </a:solidFill>
                <a:effectLst/>
                <a:latin typeface="Miller Text"/>
              </a:rPr>
              <a:t>Climb into a hole and stay there. Just kidding.</a:t>
            </a:r>
          </a:p>
          <a:p>
            <a:pPr lvl="1"/>
            <a:r>
              <a:rPr lang="en-US" b="1" dirty="0"/>
              <a:t>Increased Volatility</a:t>
            </a:r>
            <a:r>
              <a:rPr lang="en-US" dirty="0"/>
              <a:t>: Investors may misinterpret announcements from companies, news, or economic reports, leading to overact and increase </a:t>
            </a:r>
          </a:p>
          <a:p>
            <a:pPr lvl="1"/>
            <a:r>
              <a:rPr lang="en-US" b="1" dirty="0"/>
              <a:t>Re-evaluation of Investments</a:t>
            </a:r>
            <a:r>
              <a:rPr lang="en-US" dirty="0"/>
              <a:t>: Mercury retrograde is traditionally viewed as a time for reflection, which could encourage some investors to review their portfolios rather than take new risks</a:t>
            </a:r>
          </a:p>
          <a:p>
            <a:pPr lvl="1"/>
            <a:r>
              <a:rPr lang="en-US" b="1" dirty="0"/>
              <a:t>Cautious Investment Strategies</a:t>
            </a:r>
            <a:r>
              <a:rPr lang="en-US" dirty="0"/>
              <a:t>: some astrologers advise taking a cautious approach to investing during Mercury retrograde, favoring a more conservative investment style</a:t>
            </a:r>
          </a:p>
          <a:p>
            <a:pPr lvl="1"/>
            <a:endParaRPr lang="en-US" b="0" i="0" dirty="0">
              <a:solidFill>
                <a:srgbClr val="000000"/>
              </a:solidFill>
              <a:effectLst/>
              <a:latin typeface="Miller Text"/>
            </a:endParaRPr>
          </a:p>
          <a:p>
            <a:pPr lvl="1"/>
            <a:endParaRPr lang="en-US" dirty="0"/>
          </a:p>
        </p:txBody>
      </p:sp>
    </p:spTree>
    <p:extLst>
      <p:ext uri="{BB962C8B-B14F-4D97-AF65-F5344CB8AC3E}">
        <p14:creationId xmlns:p14="http://schemas.microsoft.com/office/powerpoint/2010/main" val="1093894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39589-66F1-AFC8-619A-522DA6A49468}"/>
              </a:ext>
            </a:extLst>
          </p:cNvPr>
          <p:cNvSpPr>
            <a:spLocks noGrp="1"/>
          </p:cNvSpPr>
          <p:nvPr>
            <p:ph type="title"/>
          </p:nvPr>
        </p:nvSpPr>
        <p:spPr/>
        <p:txBody>
          <a:bodyPr/>
          <a:lstStyle/>
          <a:p>
            <a:r>
              <a:rPr lang="en-US" b="1" dirty="0"/>
              <a:t>Hypothesis</a:t>
            </a:r>
            <a:endParaRPr lang="en-US" dirty="0"/>
          </a:p>
        </p:txBody>
      </p:sp>
      <p:sp>
        <p:nvSpPr>
          <p:cNvPr id="3" name="Content Placeholder 2">
            <a:extLst>
              <a:ext uri="{FF2B5EF4-FFF2-40B4-BE49-F238E27FC236}">
                <a16:creationId xmlns:a16="http://schemas.microsoft.com/office/drawing/2014/main" id="{8EB7FDAF-0C0D-B3F6-9331-16D45AFBB429}"/>
              </a:ext>
            </a:extLst>
          </p:cNvPr>
          <p:cNvSpPr>
            <a:spLocks noGrp="1"/>
          </p:cNvSpPr>
          <p:nvPr>
            <p:ph idx="1"/>
          </p:nvPr>
        </p:nvSpPr>
        <p:spPr>
          <a:xfrm>
            <a:off x="1371600" y="1860115"/>
            <a:ext cx="10002033" cy="4177430"/>
          </a:xfrm>
        </p:spPr>
        <p:txBody>
          <a:bodyPr/>
          <a:lstStyle/>
          <a:p>
            <a:r>
              <a:rPr lang="en-US" sz="2400" dirty="0"/>
              <a:t>H</a:t>
            </a:r>
            <a:r>
              <a:rPr lang="en-US" altLang="zh-CN" sz="2400" dirty="0"/>
              <a:t>1</a:t>
            </a:r>
            <a:r>
              <a:rPr lang="en-US" sz="2400" dirty="0"/>
              <a:t>: The return volatility is significantly different during the Mercury Retrograde period</a:t>
            </a:r>
          </a:p>
          <a:p>
            <a:r>
              <a:rPr lang="en-US" altLang="zh-CN" sz="2400" dirty="0"/>
              <a:t>H2: The Mercury Retrograde has a significant influence on market return</a:t>
            </a:r>
          </a:p>
          <a:p>
            <a:r>
              <a:rPr lang="en-US" altLang="zh-CN" sz="2400" dirty="0"/>
              <a:t>H3: </a:t>
            </a:r>
            <a:r>
              <a:rPr lang="en-US" sz="2400" dirty="0"/>
              <a:t>During the Mercury Retrograde period, there is a significant cumulated abnormal return either negative or positive</a:t>
            </a:r>
          </a:p>
          <a:p>
            <a:endParaRPr lang="en-US" altLang="zh-CN" dirty="0"/>
          </a:p>
          <a:p>
            <a:endParaRPr lang="en-US" dirty="0"/>
          </a:p>
          <a:p>
            <a:endParaRPr lang="en-US" dirty="0"/>
          </a:p>
          <a:p>
            <a:endParaRPr lang="en-US" dirty="0"/>
          </a:p>
        </p:txBody>
      </p:sp>
    </p:spTree>
    <p:extLst>
      <p:ext uri="{BB962C8B-B14F-4D97-AF65-F5344CB8AC3E}">
        <p14:creationId xmlns:p14="http://schemas.microsoft.com/office/powerpoint/2010/main" val="18332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BBC97-1998-2D53-65AF-E27BCFA14EEE}"/>
              </a:ext>
            </a:extLst>
          </p:cNvPr>
          <p:cNvSpPr>
            <a:spLocks noGrp="1"/>
          </p:cNvSpPr>
          <p:nvPr>
            <p:ph type="title"/>
          </p:nvPr>
        </p:nvSpPr>
        <p:spPr/>
        <p:txBody>
          <a:bodyPr/>
          <a:lstStyle/>
          <a:p>
            <a:r>
              <a:rPr lang="en-US" b="1" dirty="0"/>
              <a:t>Model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99EF3E-60E2-F4AB-16CA-2932B7B352BB}"/>
                  </a:ext>
                </a:extLst>
              </p:cNvPr>
              <p:cNvSpPr>
                <a:spLocks noGrp="1"/>
              </p:cNvSpPr>
              <p:nvPr>
                <p:ph idx="1"/>
              </p:nvPr>
            </p:nvSpPr>
            <p:spPr>
              <a:xfrm>
                <a:off x="1371599" y="1390390"/>
                <a:ext cx="10189923" cy="4972832"/>
              </a:xfrm>
            </p:spPr>
            <p:txBody>
              <a:bodyPr>
                <a:normAutofit/>
              </a:bodyPr>
              <a:lstStyle/>
              <a:p>
                <a:r>
                  <a:rPr lang="en-US" dirty="0"/>
                  <a:t>To test whether the Mercury Retrograde has a positive effect on market return volatility, we run the following panel regression:</a:t>
                </a:r>
              </a:p>
              <a:p>
                <a:endParaRPr lang="en-US" dirty="0"/>
              </a:p>
              <a:p>
                <a:pPr marL="457200" lvl="1" indent="0">
                  <a:buNone/>
                </a:pP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𝑉𝑜𝑙</m:t>
                          </m:r>
                        </m:e>
                        <m:sub>
                          <m:r>
                            <a:rPr lang="en-US" b="0" i="1" smtClean="0">
                              <a:latin typeface="Cambria Math" panose="02040503050406030204" pitchFamily="18" charset="0"/>
                            </a:rPr>
                            <m:t>𝑖𝑡</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𝑀𝑒𝑟𝑐𝑢𝑟𝑦</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𝐶𝑜𝑛𝑡𝑟𝑜𝑙𝑠</m:t>
                          </m:r>
                        </m:e>
                        <m:sub>
                          <m:r>
                            <a:rPr lang="en-US" b="0" i="1" smtClean="0">
                              <a:latin typeface="Cambria Math" panose="02040503050406030204" pitchFamily="18" charset="0"/>
                              <a:ea typeface="Cambria Math" panose="02040503050406030204" pitchFamily="18" charset="0"/>
                            </a:rPr>
                            <m:t>𝑖𝑡</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𝐹𝐸</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𝑒</m:t>
                          </m:r>
                        </m:e>
                        <m:sub>
                          <m:r>
                            <a:rPr lang="en-US" b="0" i="1" smtClean="0">
                              <a:latin typeface="Cambria Math" panose="02040503050406030204" pitchFamily="18" charset="0"/>
                              <a:ea typeface="Cambria Math" panose="02040503050406030204" pitchFamily="18" charset="0"/>
                            </a:rPr>
                            <m:t>𝑖𝑡</m:t>
                          </m:r>
                        </m:sub>
                      </m:sSub>
                    </m:oMath>
                  </m:oMathPara>
                </a14:m>
                <a:endParaRPr lang="en-US" dirty="0"/>
              </a:p>
              <a:p>
                <a:pPr marL="457200" lvl="1" indent="0">
                  <a:buNone/>
                </a:pPr>
                <a:endParaRPr lang="en-US" dirty="0"/>
              </a:p>
              <a:p>
                <a:pPr lvl="1"/>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𝑀𝑒𝑟𝑐𝑢𝑟𝑦</m:t>
                        </m:r>
                      </m:e>
                      <m:sub>
                        <m:r>
                          <a:rPr lang="en-US" b="0" i="1" smtClean="0">
                            <a:latin typeface="Cambria Math" panose="02040503050406030204" pitchFamily="18" charset="0"/>
                            <a:ea typeface="Cambria Math" panose="02040503050406030204" pitchFamily="18" charset="0"/>
                          </a:rPr>
                          <m:t>𝑡</m:t>
                        </m:r>
                      </m:sub>
                    </m:sSub>
                  </m:oMath>
                </a14:m>
                <a:r>
                  <a:rPr lang="en-US" dirty="0"/>
                  <a:t> is a dummy variable equaling to 1 in event period </a:t>
                </a:r>
              </a:p>
              <a:p>
                <a:pPr lvl="2"/>
                <a:r>
                  <a:rPr lang="en-US" dirty="0"/>
                  <a:t>dummy variable has a high signal to noise ratio (Edmans, Garcia, and Norli, 2007)</a:t>
                </a:r>
              </a:p>
              <a:p>
                <a:pPr lvl="1"/>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𝐶𝑜𝑛𝑡𝑟𝑜𝑙𝑠</m:t>
                        </m:r>
                      </m:e>
                      <m:sub>
                        <m:r>
                          <a:rPr lang="en-US" b="0" i="1" smtClean="0">
                            <a:latin typeface="Cambria Math" panose="02040503050406030204" pitchFamily="18" charset="0"/>
                            <a:ea typeface="Cambria Math" panose="02040503050406030204" pitchFamily="18" charset="0"/>
                          </a:rPr>
                          <m:t>𝑖𝑡</m:t>
                        </m:r>
                      </m:sub>
                    </m:sSub>
                  </m:oMath>
                </a14:m>
                <a:r>
                  <a:rPr lang="en-US" dirty="0"/>
                  <a:t> includes lag terms of volatility</a:t>
                </a:r>
              </a:p>
              <a:p>
                <a:pPr lvl="2"/>
                <a:r>
                  <a:rPr lang="en-US" dirty="0"/>
                  <a:t>Mitigate Market Microstructure Effects</a:t>
                </a:r>
              </a:p>
              <a:p>
                <a:pPr lvl="2"/>
                <a:r>
                  <a:rPr lang="en-US" dirty="0"/>
                  <a:t>Capture Market Frictions</a:t>
                </a:r>
                <a:endParaRPr lang="en-US" b="0" i="1" dirty="0">
                  <a:latin typeface="Cambria Math" panose="02040503050406030204" pitchFamily="18" charset="0"/>
                  <a:ea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ea typeface="Cambria Math" panose="02040503050406030204" pitchFamily="18" charset="0"/>
                      </a:rPr>
                      <m:t>𝐹𝐸</m:t>
                    </m:r>
                  </m:oMath>
                </a14:m>
                <a:r>
                  <a:rPr lang="en-US" dirty="0"/>
                  <a:t> : country fixed effect and quarterly fixed effect</a:t>
                </a:r>
              </a:p>
              <a:p>
                <a:pPr lvl="2"/>
                <a:r>
                  <a:rPr lang="en-US" dirty="0"/>
                  <a:t>Control for Unobserved Heterogeneity</a:t>
                </a:r>
              </a:p>
              <a:p>
                <a:pPr lvl="2"/>
                <a:r>
                  <a:rPr lang="en-US" dirty="0"/>
                  <a:t>Isolate Treatment Effect</a:t>
                </a:r>
              </a:p>
            </p:txBody>
          </p:sp>
        </mc:Choice>
        <mc:Fallback xmlns="">
          <p:sp>
            <p:nvSpPr>
              <p:cNvPr id="3" name="Content Placeholder 2">
                <a:extLst>
                  <a:ext uri="{FF2B5EF4-FFF2-40B4-BE49-F238E27FC236}">
                    <a16:creationId xmlns:a16="http://schemas.microsoft.com/office/drawing/2014/main" id="{E199EF3E-60E2-F4AB-16CA-2932B7B352BB}"/>
                  </a:ext>
                </a:extLst>
              </p:cNvPr>
              <p:cNvSpPr>
                <a:spLocks noGrp="1" noRot="1" noChangeAspect="1" noMove="1" noResize="1" noEditPoints="1" noAdjustHandles="1" noChangeArrowheads="1" noChangeShapeType="1" noTextEdit="1"/>
              </p:cNvSpPr>
              <p:nvPr>
                <p:ph idx="1"/>
              </p:nvPr>
            </p:nvSpPr>
            <p:spPr>
              <a:xfrm>
                <a:off x="1371599" y="1390390"/>
                <a:ext cx="10189923" cy="4972832"/>
              </a:xfrm>
              <a:blipFill>
                <a:blip r:embed="rId2"/>
                <a:stretch>
                  <a:fillRect l="-623" t="-1018"/>
                </a:stretch>
              </a:blipFill>
            </p:spPr>
            <p:txBody>
              <a:bodyPr/>
              <a:lstStyle/>
              <a:p>
                <a:r>
                  <a:rPr lang="en-US">
                    <a:noFill/>
                  </a:rPr>
                  <a:t> </a:t>
                </a:r>
              </a:p>
            </p:txBody>
          </p:sp>
        </mc:Fallback>
      </mc:AlternateContent>
    </p:spTree>
    <p:extLst>
      <p:ext uri="{BB962C8B-B14F-4D97-AF65-F5344CB8AC3E}">
        <p14:creationId xmlns:p14="http://schemas.microsoft.com/office/powerpoint/2010/main" val="3862860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9E468-D46B-FA33-E9EF-F20F4B3327CF}"/>
              </a:ext>
            </a:extLst>
          </p:cNvPr>
          <p:cNvSpPr>
            <a:spLocks noGrp="1"/>
          </p:cNvSpPr>
          <p:nvPr>
            <p:ph type="title"/>
          </p:nvPr>
        </p:nvSpPr>
        <p:spPr/>
        <p:txBody>
          <a:bodyPr/>
          <a:lstStyle/>
          <a:p>
            <a:r>
              <a:rPr lang="en-US" b="1" dirty="0"/>
              <a:t>Data </a:t>
            </a:r>
          </a:p>
        </p:txBody>
      </p:sp>
      <p:sp>
        <p:nvSpPr>
          <p:cNvPr id="3" name="Content Placeholder 2">
            <a:extLst>
              <a:ext uri="{FF2B5EF4-FFF2-40B4-BE49-F238E27FC236}">
                <a16:creationId xmlns:a16="http://schemas.microsoft.com/office/drawing/2014/main" id="{0DDACB31-A220-DDA8-AD3C-36E741BFC837}"/>
              </a:ext>
            </a:extLst>
          </p:cNvPr>
          <p:cNvSpPr>
            <a:spLocks noGrp="1"/>
          </p:cNvSpPr>
          <p:nvPr>
            <p:ph idx="1"/>
          </p:nvPr>
        </p:nvSpPr>
        <p:spPr>
          <a:xfrm>
            <a:off x="1371600" y="1878903"/>
            <a:ext cx="10133468" cy="4183693"/>
          </a:xfrm>
        </p:spPr>
        <p:txBody>
          <a:bodyPr>
            <a:normAutofit fontScale="92500" lnSpcReduction="10000"/>
          </a:bodyPr>
          <a:lstStyle/>
          <a:p>
            <a:r>
              <a:rPr lang="en-US" dirty="0"/>
              <a:t>Data source</a:t>
            </a:r>
          </a:p>
          <a:p>
            <a:pPr lvl="1"/>
            <a:r>
              <a:rPr lang="en-US" dirty="0"/>
              <a:t>World Indices by WRDS – daily world indices</a:t>
            </a:r>
          </a:p>
          <a:p>
            <a:pPr lvl="1"/>
            <a:r>
              <a:rPr lang="en-US" dirty="0"/>
              <a:t>Date range: from </a:t>
            </a:r>
            <a:r>
              <a:rPr lang="en-US" i="1" dirty="0"/>
              <a:t>2000-01-01 </a:t>
            </a:r>
            <a:r>
              <a:rPr lang="en-US" dirty="0"/>
              <a:t>to</a:t>
            </a:r>
            <a:r>
              <a:rPr lang="en-US" i="1" dirty="0"/>
              <a:t> 2023-12-31</a:t>
            </a:r>
          </a:p>
          <a:p>
            <a:pPr lvl="1"/>
            <a:r>
              <a:rPr lang="en-US" dirty="0"/>
              <a:t>Daily country return with dividends</a:t>
            </a:r>
          </a:p>
          <a:p>
            <a:pPr lvl="1"/>
            <a:r>
              <a:rPr lang="en-US" dirty="0"/>
              <a:t>Download all the available indices</a:t>
            </a:r>
          </a:p>
          <a:p>
            <a:pPr lvl="1"/>
            <a:r>
              <a:rPr lang="en-US" dirty="0"/>
              <a:t>The Mercury Retrograde period </a:t>
            </a:r>
          </a:p>
          <a:p>
            <a:r>
              <a:rPr lang="en-US" dirty="0"/>
              <a:t>Data cleaning </a:t>
            </a:r>
          </a:p>
          <a:p>
            <a:pPr lvl="1"/>
            <a:r>
              <a:rPr lang="en-US" dirty="0"/>
              <a:t>Classify into </a:t>
            </a:r>
            <a:r>
              <a:rPr lang="en-US" b="1" dirty="0"/>
              <a:t>DM and EM (developed market and emerging market)</a:t>
            </a:r>
          </a:p>
          <a:p>
            <a:pPr lvl="1"/>
            <a:r>
              <a:rPr lang="en-US" dirty="0"/>
              <a:t>Merge the data by date</a:t>
            </a:r>
          </a:p>
          <a:p>
            <a:pPr lvl="1"/>
            <a:r>
              <a:rPr lang="en-US" dirty="0"/>
              <a:t>Drop the NA value</a:t>
            </a:r>
          </a:p>
          <a:p>
            <a:pPr lvl="1"/>
            <a:r>
              <a:rPr lang="en-US" dirty="0"/>
              <a:t>Set time index </a:t>
            </a:r>
          </a:p>
          <a:p>
            <a:pPr lvl="1"/>
            <a:r>
              <a:rPr lang="en-US" dirty="0"/>
              <a:t>Create dummy variable (equals 1 when in mercury retrograde period, otherwise 0)</a:t>
            </a:r>
          </a:p>
          <a:p>
            <a:pPr lvl="1"/>
            <a:endParaRPr lang="en-US" dirty="0"/>
          </a:p>
          <a:p>
            <a:pPr lvl="1"/>
            <a:endParaRPr lang="en-US" dirty="0"/>
          </a:p>
        </p:txBody>
      </p:sp>
      <p:pic>
        <p:nvPicPr>
          <p:cNvPr id="5" name="Picture 4" descr="A checklist with black text&#10;&#10;Description automatically generated">
            <a:extLst>
              <a:ext uri="{FF2B5EF4-FFF2-40B4-BE49-F238E27FC236}">
                <a16:creationId xmlns:a16="http://schemas.microsoft.com/office/drawing/2014/main" id="{2B599B9D-923F-7578-76AE-2EA77D1821B4}"/>
              </a:ext>
            </a:extLst>
          </p:cNvPr>
          <p:cNvPicPr>
            <a:picLocks noChangeAspect="1"/>
          </p:cNvPicPr>
          <p:nvPr/>
        </p:nvPicPr>
        <p:blipFill>
          <a:blip r:embed="rId2"/>
          <a:stretch>
            <a:fillRect/>
          </a:stretch>
        </p:blipFill>
        <p:spPr>
          <a:xfrm>
            <a:off x="7342944" y="1878903"/>
            <a:ext cx="4287384" cy="1809750"/>
          </a:xfrm>
          <a:prstGeom prst="rect">
            <a:avLst/>
          </a:prstGeom>
        </p:spPr>
      </p:pic>
    </p:spTree>
    <p:extLst>
      <p:ext uri="{BB962C8B-B14F-4D97-AF65-F5344CB8AC3E}">
        <p14:creationId xmlns:p14="http://schemas.microsoft.com/office/powerpoint/2010/main" val="3955704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DBA5A-0409-900A-3070-C9F54B944F46}"/>
              </a:ext>
            </a:extLst>
          </p:cNvPr>
          <p:cNvSpPr>
            <a:spLocks noGrp="1"/>
          </p:cNvSpPr>
          <p:nvPr>
            <p:ph type="title"/>
          </p:nvPr>
        </p:nvSpPr>
        <p:spPr/>
        <p:txBody>
          <a:bodyPr/>
          <a:lstStyle/>
          <a:p>
            <a:r>
              <a:rPr lang="en-US" b="1" dirty="0"/>
              <a:t>Data</a:t>
            </a:r>
          </a:p>
        </p:txBody>
      </p:sp>
      <p:pic>
        <p:nvPicPr>
          <p:cNvPr id="6" name="Content Placeholder 5" descr="A screen shot of a computer program&#10;&#10;Description automatically generated">
            <a:extLst>
              <a:ext uri="{FF2B5EF4-FFF2-40B4-BE49-F238E27FC236}">
                <a16:creationId xmlns:a16="http://schemas.microsoft.com/office/drawing/2014/main" id="{DC0AE75F-079D-EEA5-1754-48E6E735A61E}"/>
              </a:ext>
            </a:extLst>
          </p:cNvPr>
          <p:cNvPicPr>
            <a:picLocks noGrp="1" noChangeAspect="1"/>
          </p:cNvPicPr>
          <p:nvPr>
            <p:ph idx="1"/>
          </p:nvPr>
        </p:nvPicPr>
        <p:blipFill>
          <a:blip r:embed="rId2"/>
          <a:stretch>
            <a:fillRect/>
          </a:stretch>
        </p:blipFill>
        <p:spPr>
          <a:xfrm>
            <a:off x="1371600" y="1428750"/>
            <a:ext cx="9788122" cy="4473864"/>
          </a:xfrm>
        </p:spPr>
      </p:pic>
      <p:sp>
        <p:nvSpPr>
          <p:cNvPr id="7" name="Rectangle 6">
            <a:extLst>
              <a:ext uri="{FF2B5EF4-FFF2-40B4-BE49-F238E27FC236}">
                <a16:creationId xmlns:a16="http://schemas.microsoft.com/office/drawing/2014/main" id="{18899EAE-C143-71AA-7225-993C43C5A369}"/>
              </a:ext>
            </a:extLst>
          </p:cNvPr>
          <p:cNvSpPr/>
          <p:nvPr/>
        </p:nvSpPr>
        <p:spPr>
          <a:xfrm>
            <a:off x="6484307" y="1636546"/>
            <a:ext cx="3625516" cy="535154"/>
          </a:xfrm>
          <a:prstGeom prst="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Create a dummy variable</a:t>
            </a:r>
          </a:p>
        </p:txBody>
      </p:sp>
    </p:spTree>
    <p:extLst>
      <p:ext uri="{BB962C8B-B14F-4D97-AF65-F5344CB8AC3E}">
        <p14:creationId xmlns:p14="http://schemas.microsoft.com/office/powerpoint/2010/main" val="3763605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87CF3-754D-F0A8-6242-D15578049FE2}"/>
              </a:ext>
            </a:extLst>
          </p:cNvPr>
          <p:cNvSpPr>
            <a:spLocks noGrp="1"/>
          </p:cNvSpPr>
          <p:nvPr>
            <p:ph type="title"/>
          </p:nvPr>
        </p:nvSpPr>
        <p:spPr/>
        <p:txBody>
          <a:bodyPr/>
          <a:lstStyle/>
          <a:p>
            <a:r>
              <a:rPr lang="en-US" b="1" dirty="0"/>
              <a:t>Data</a:t>
            </a:r>
          </a:p>
        </p:txBody>
      </p:sp>
      <p:sp>
        <p:nvSpPr>
          <p:cNvPr id="3" name="Content Placeholder 2">
            <a:extLst>
              <a:ext uri="{FF2B5EF4-FFF2-40B4-BE49-F238E27FC236}">
                <a16:creationId xmlns:a16="http://schemas.microsoft.com/office/drawing/2014/main" id="{BCF23440-2B9F-6C85-AD8D-52CAD2B5E029}"/>
              </a:ext>
            </a:extLst>
          </p:cNvPr>
          <p:cNvSpPr>
            <a:spLocks noGrp="1"/>
          </p:cNvSpPr>
          <p:nvPr>
            <p:ph idx="1"/>
          </p:nvPr>
        </p:nvSpPr>
        <p:spPr/>
        <p:txBody>
          <a:bodyPr/>
          <a:lstStyle/>
          <a:p>
            <a:r>
              <a:rPr lang="en-US" dirty="0"/>
              <a:t>Prepare for the regression</a:t>
            </a:r>
          </a:p>
          <a:p>
            <a:pPr lvl="1"/>
            <a:r>
              <a:rPr lang="en-US" dirty="0"/>
              <a:t>Lag terms of return volatility</a:t>
            </a:r>
          </a:p>
          <a:p>
            <a:pPr lvl="1"/>
            <a:r>
              <a:rPr lang="en-US" dirty="0"/>
              <a:t>Year-Quarter column</a:t>
            </a:r>
          </a:p>
          <a:p>
            <a:pPr lvl="1"/>
            <a:endParaRPr lang="en-US" dirty="0"/>
          </a:p>
          <a:p>
            <a:pPr lvl="1"/>
            <a:endParaRPr lang="en-US" dirty="0"/>
          </a:p>
        </p:txBody>
      </p:sp>
      <p:pic>
        <p:nvPicPr>
          <p:cNvPr id="4" name="Content Placeholder 4" descr="A screen shot of a computer code&#10;&#10;Description automatically generated">
            <a:extLst>
              <a:ext uri="{FF2B5EF4-FFF2-40B4-BE49-F238E27FC236}">
                <a16:creationId xmlns:a16="http://schemas.microsoft.com/office/drawing/2014/main" id="{06F8039A-7078-565C-1FE0-447B639E8A58}"/>
              </a:ext>
            </a:extLst>
          </p:cNvPr>
          <p:cNvPicPr>
            <a:picLocks noChangeAspect="1"/>
          </p:cNvPicPr>
          <p:nvPr/>
        </p:nvPicPr>
        <p:blipFill>
          <a:blip r:embed="rId2"/>
          <a:stretch>
            <a:fillRect/>
          </a:stretch>
        </p:blipFill>
        <p:spPr>
          <a:xfrm>
            <a:off x="1371600" y="3531025"/>
            <a:ext cx="10519019" cy="1910811"/>
          </a:xfrm>
          <a:prstGeom prst="rect">
            <a:avLst/>
          </a:prstGeom>
        </p:spPr>
      </p:pic>
    </p:spTree>
    <p:extLst>
      <p:ext uri="{BB962C8B-B14F-4D97-AF65-F5344CB8AC3E}">
        <p14:creationId xmlns:p14="http://schemas.microsoft.com/office/powerpoint/2010/main" val="238409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A1BBF-76C6-2C4F-AE77-D4D9FCDE9D78}"/>
              </a:ext>
            </a:extLst>
          </p:cNvPr>
          <p:cNvSpPr>
            <a:spLocks noGrp="1"/>
          </p:cNvSpPr>
          <p:nvPr>
            <p:ph type="title"/>
          </p:nvPr>
        </p:nvSpPr>
        <p:spPr/>
        <p:txBody>
          <a:bodyPr/>
          <a:lstStyle/>
          <a:p>
            <a:r>
              <a:rPr lang="en-US" b="1" dirty="0"/>
              <a:t>Data </a:t>
            </a:r>
          </a:p>
        </p:txBody>
      </p:sp>
      <p:graphicFrame>
        <p:nvGraphicFramePr>
          <p:cNvPr id="6" name="Content Placeholder 5">
            <a:extLst>
              <a:ext uri="{FF2B5EF4-FFF2-40B4-BE49-F238E27FC236}">
                <a16:creationId xmlns:a16="http://schemas.microsoft.com/office/drawing/2014/main" id="{50FBABBA-4F74-B80F-09B0-32BA6E9A5519}"/>
              </a:ext>
            </a:extLst>
          </p:cNvPr>
          <p:cNvGraphicFramePr>
            <a:graphicFrameLocks noGrp="1"/>
          </p:cNvGraphicFramePr>
          <p:nvPr>
            <p:ph idx="1"/>
            <p:extLst>
              <p:ext uri="{D42A27DB-BD31-4B8C-83A1-F6EECF244321}">
                <p14:modId xmlns:p14="http://schemas.microsoft.com/office/powerpoint/2010/main" val="3365935150"/>
              </p:ext>
            </p:extLst>
          </p:nvPr>
        </p:nvGraphicFramePr>
        <p:xfrm>
          <a:off x="990598" y="1703214"/>
          <a:ext cx="10363203" cy="4020819"/>
        </p:xfrm>
        <a:graphic>
          <a:graphicData uri="http://schemas.openxmlformats.org/drawingml/2006/table">
            <a:tbl>
              <a:tblPr>
                <a:tableStyleId>{5C22544A-7EE6-4342-B048-85BDC9FD1C3A}</a:tableStyleId>
              </a:tblPr>
              <a:tblGrid>
                <a:gridCol w="985864">
                  <a:extLst>
                    <a:ext uri="{9D8B030D-6E8A-4147-A177-3AD203B41FA5}">
                      <a16:colId xmlns:a16="http://schemas.microsoft.com/office/drawing/2014/main" val="1512203632"/>
                    </a:ext>
                  </a:extLst>
                </a:gridCol>
                <a:gridCol w="976564">
                  <a:extLst>
                    <a:ext uri="{9D8B030D-6E8A-4147-A177-3AD203B41FA5}">
                      <a16:colId xmlns:a16="http://schemas.microsoft.com/office/drawing/2014/main" val="3781162348"/>
                    </a:ext>
                  </a:extLst>
                </a:gridCol>
                <a:gridCol w="495257">
                  <a:extLst>
                    <a:ext uri="{9D8B030D-6E8A-4147-A177-3AD203B41FA5}">
                      <a16:colId xmlns:a16="http://schemas.microsoft.com/office/drawing/2014/main" val="2690559096"/>
                    </a:ext>
                  </a:extLst>
                </a:gridCol>
                <a:gridCol w="482031">
                  <a:extLst>
                    <a:ext uri="{9D8B030D-6E8A-4147-A177-3AD203B41FA5}">
                      <a16:colId xmlns:a16="http://schemas.microsoft.com/office/drawing/2014/main" val="3356032407"/>
                    </a:ext>
                  </a:extLst>
                </a:gridCol>
                <a:gridCol w="720072">
                  <a:extLst>
                    <a:ext uri="{9D8B030D-6E8A-4147-A177-3AD203B41FA5}">
                      <a16:colId xmlns:a16="http://schemas.microsoft.com/office/drawing/2014/main" val="2365028894"/>
                    </a:ext>
                  </a:extLst>
                </a:gridCol>
                <a:gridCol w="706846">
                  <a:extLst>
                    <a:ext uri="{9D8B030D-6E8A-4147-A177-3AD203B41FA5}">
                      <a16:colId xmlns:a16="http://schemas.microsoft.com/office/drawing/2014/main" val="4266009797"/>
                    </a:ext>
                  </a:extLst>
                </a:gridCol>
                <a:gridCol w="706846">
                  <a:extLst>
                    <a:ext uri="{9D8B030D-6E8A-4147-A177-3AD203B41FA5}">
                      <a16:colId xmlns:a16="http://schemas.microsoft.com/office/drawing/2014/main" val="3763656030"/>
                    </a:ext>
                  </a:extLst>
                </a:gridCol>
                <a:gridCol w="651043">
                  <a:extLst>
                    <a:ext uri="{9D8B030D-6E8A-4147-A177-3AD203B41FA5}">
                      <a16:colId xmlns:a16="http://schemas.microsoft.com/office/drawing/2014/main" val="4293908462"/>
                    </a:ext>
                  </a:extLst>
                </a:gridCol>
                <a:gridCol w="809153">
                  <a:extLst>
                    <a:ext uri="{9D8B030D-6E8A-4147-A177-3AD203B41FA5}">
                      <a16:colId xmlns:a16="http://schemas.microsoft.com/office/drawing/2014/main" val="716167554"/>
                    </a:ext>
                  </a:extLst>
                </a:gridCol>
                <a:gridCol w="1276509">
                  <a:extLst>
                    <a:ext uri="{9D8B030D-6E8A-4147-A177-3AD203B41FA5}">
                      <a16:colId xmlns:a16="http://schemas.microsoft.com/office/drawing/2014/main" val="526623110"/>
                    </a:ext>
                  </a:extLst>
                </a:gridCol>
                <a:gridCol w="1276509">
                  <a:extLst>
                    <a:ext uri="{9D8B030D-6E8A-4147-A177-3AD203B41FA5}">
                      <a16:colId xmlns:a16="http://schemas.microsoft.com/office/drawing/2014/main" val="1638879416"/>
                    </a:ext>
                  </a:extLst>
                </a:gridCol>
                <a:gridCol w="1276509">
                  <a:extLst>
                    <a:ext uri="{9D8B030D-6E8A-4147-A177-3AD203B41FA5}">
                      <a16:colId xmlns:a16="http://schemas.microsoft.com/office/drawing/2014/main" val="1792687573"/>
                    </a:ext>
                  </a:extLst>
                </a:gridCol>
              </a:tblGrid>
              <a:tr h="138305">
                <a:tc>
                  <a:txBody>
                    <a:bodyPr/>
                    <a:lstStyle/>
                    <a:p>
                      <a:pPr algn="ctr" fontAlgn="t"/>
                      <a:r>
                        <a:rPr lang="en-US" sz="800" u="none" strike="noStrike" dirty="0">
                          <a:effectLst/>
                        </a:rPr>
                        <a:t>Date</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Mercury_Retrograde</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Country</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Return</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Return_Lag_1</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Return_Lag_2</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Return_Lag_3</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Year_Quarter</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Return_Volatility</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Lagged_Return_Volatility_1</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Lagged_Return_Volatility_2</a:t>
                      </a:r>
                      <a:endParaRPr lang="en-US" sz="800" b="1" i="0" u="none" strike="noStrike" dirty="0">
                        <a:solidFill>
                          <a:srgbClr val="000000"/>
                        </a:solidFill>
                        <a:effectLst/>
                        <a:latin typeface="Calibri" panose="020F0502020204030204" pitchFamily="34" charset="0"/>
                      </a:endParaRPr>
                    </a:p>
                  </a:txBody>
                  <a:tcPr marL="7086" marR="7086" marT="7086" marB="0"/>
                </a:tc>
                <a:tc>
                  <a:txBody>
                    <a:bodyPr/>
                    <a:lstStyle/>
                    <a:p>
                      <a:pPr algn="ctr" fontAlgn="t"/>
                      <a:r>
                        <a:rPr lang="en-US" sz="800" u="none" strike="noStrike" dirty="0">
                          <a:effectLst/>
                        </a:rPr>
                        <a:t>Lagged_Return_Volatility_3</a:t>
                      </a:r>
                      <a:endParaRPr lang="en-US" sz="800" b="1" i="0" u="none" strike="noStrike" dirty="0">
                        <a:solidFill>
                          <a:srgbClr val="000000"/>
                        </a:solidFill>
                        <a:effectLst/>
                        <a:latin typeface="Calibri" panose="020F0502020204030204" pitchFamily="34" charset="0"/>
                      </a:endParaRPr>
                    </a:p>
                  </a:txBody>
                  <a:tcPr marL="7086" marR="7086" marT="7086" marB="0"/>
                </a:tc>
                <a:extLst>
                  <a:ext uri="{0D108BD9-81ED-4DB2-BD59-A6C34878D82A}">
                    <a16:rowId xmlns:a16="http://schemas.microsoft.com/office/drawing/2014/main" val="2918096216"/>
                  </a:ext>
                </a:extLst>
              </a:tr>
              <a:tr h="150246">
                <a:tc>
                  <a:txBody>
                    <a:bodyPr/>
                    <a:lstStyle/>
                    <a:p>
                      <a:pPr algn="r" fontAlgn="b"/>
                      <a:r>
                        <a:rPr lang="en-US" sz="800" u="none" strike="noStrike" dirty="0">
                          <a:effectLst/>
                        </a:rPr>
                        <a:t>2000-01-12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0.001584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0.006886839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0.029017234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0.014624913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0.011860397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0.012450193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0.014508772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0.010341375</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3665508446"/>
                  </a:ext>
                </a:extLst>
              </a:tr>
              <a:tr h="138305">
                <a:tc>
                  <a:txBody>
                    <a:bodyPr/>
                    <a:lstStyle/>
                    <a:p>
                      <a:pPr algn="r" fontAlgn="b"/>
                      <a:r>
                        <a:rPr lang="en-US" sz="800" u="none" strike="noStrike" dirty="0">
                          <a:effectLst/>
                        </a:rPr>
                        <a:t>2000-01-13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0.005911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0.001583818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0.006886839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0.029017234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0.010766993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0.011860397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0.012450193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0.014508772</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1459094973"/>
                  </a:ext>
                </a:extLst>
              </a:tr>
              <a:tr h="150246">
                <a:tc>
                  <a:txBody>
                    <a:bodyPr/>
                    <a:lstStyle/>
                    <a:p>
                      <a:pPr algn="r" fontAlgn="b"/>
                      <a:r>
                        <a:rPr lang="en-US" sz="800" u="none" strike="noStrike" dirty="0">
                          <a:effectLst/>
                        </a:rPr>
                        <a:t>2000-01-14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0.021253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0.005910626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0.001583818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0.006886839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0.010759657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0.010766993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0.011860397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0.012450193</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2000084282"/>
                  </a:ext>
                </a:extLst>
              </a:tr>
              <a:tr h="150246">
                <a:tc>
                  <a:txBody>
                    <a:bodyPr/>
                    <a:lstStyle/>
                    <a:p>
                      <a:pPr algn="r" fontAlgn="b"/>
                      <a:r>
                        <a:rPr lang="en-US" sz="800" u="none" strike="noStrike" dirty="0">
                          <a:effectLst/>
                        </a:rPr>
                        <a:t>2000-01-17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0.027039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0.021252625</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0.005910626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0.001583818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0.011406016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0.010759657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0.010766993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0.011860397</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1006247032"/>
                  </a:ext>
                </a:extLst>
              </a:tr>
              <a:tr h="150246">
                <a:tc>
                  <a:txBody>
                    <a:bodyPr/>
                    <a:lstStyle/>
                    <a:p>
                      <a:pPr algn="r" fontAlgn="b"/>
                      <a:r>
                        <a:rPr lang="en-US" sz="800" u="none" strike="noStrike" dirty="0">
                          <a:effectLst/>
                        </a:rPr>
                        <a:t>2000-01-18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-0.0229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0.027038992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0.021252625</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0.005910626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0.016104873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0.011406016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0.010759657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0.010766993</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903497400"/>
                  </a:ext>
                </a:extLst>
              </a:tr>
              <a:tr h="150246">
                <a:tc>
                  <a:txBody>
                    <a:bodyPr/>
                    <a:lstStyle/>
                    <a:p>
                      <a:pPr algn="r" fontAlgn="b"/>
                      <a:r>
                        <a:rPr lang="en-US" sz="800" u="none" strike="noStrike" dirty="0">
                          <a:effectLst/>
                        </a:rPr>
                        <a:t>2000-01-19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0.00203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-0.022901597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0.027038992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0.021252625</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0.015355374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0.016104873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0.011406016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0.010759657</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253252972"/>
                  </a:ext>
                </a:extLst>
              </a:tr>
              <a:tr h="138305">
                <a:tc>
                  <a:txBody>
                    <a:bodyPr/>
                    <a:lstStyle/>
                    <a:p>
                      <a:pPr algn="r" fontAlgn="b"/>
                      <a:r>
                        <a:rPr lang="en-US" sz="800" u="none" strike="noStrike" dirty="0">
                          <a:effectLst/>
                        </a:rPr>
                        <a:t>2000-01-20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0.004718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0.002029981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-0.022901597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0.027038992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0.014613006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0.015355374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0.016104873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0.011406016</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2883754023"/>
                  </a:ext>
                </a:extLst>
              </a:tr>
              <a:tr h="150246">
                <a:tc>
                  <a:txBody>
                    <a:bodyPr/>
                    <a:lstStyle/>
                    <a:p>
                      <a:pPr algn="r" fontAlgn="b"/>
                      <a:r>
                        <a:rPr lang="en-US" sz="800" u="none" strike="noStrike" dirty="0">
                          <a:effectLst/>
                        </a:rPr>
                        <a:t>2000-01-21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0.002554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0.004717719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0.002029981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-0.022901597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0.014027847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0.014613006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0.015355374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0.016104873</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360920896"/>
                  </a:ext>
                </a:extLst>
              </a:tr>
              <a:tr h="150246">
                <a:tc>
                  <a:txBody>
                    <a:bodyPr/>
                    <a:lstStyle/>
                    <a:p>
                      <a:pPr algn="r" fontAlgn="b"/>
                      <a:r>
                        <a:rPr lang="en-US" sz="800" u="none" strike="noStrike" dirty="0">
                          <a:effectLst/>
                        </a:rPr>
                        <a:t>2000-01-24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0.015842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0.002553833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0.004717719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0.002029981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0.013617974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0.014027847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0.014613006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0.015355374</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1559997594"/>
                  </a:ext>
                </a:extLst>
              </a:tr>
              <a:tr h="150246">
                <a:tc>
                  <a:txBody>
                    <a:bodyPr/>
                    <a:lstStyle/>
                    <a:p>
                      <a:pPr algn="r" fontAlgn="b"/>
                      <a:r>
                        <a:rPr lang="en-US" sz="800" u="none" strike="noStrike" dirty="0">
                          <a:effectLst/>
                        </a:rPr>
                        <a:t>2000-01-25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-0.01285</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0.015842412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0.002553833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0.004717719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0.014258271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0.013617974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0.014027847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0.014613006</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3279544998"/>
                  </a:ext>
                </a:extLst>
              </a:tr>
              <a:tr h="150246">
                <a:tc>
                  <a:txBody>
                    <a:bodyPr/>
                    <a:lstStyle/>
                    <a:p>
                      <a:pPr algn="r" fontAlgn="b"/>
                      <a:r>
                        <a:rPr lang="en-US" sz="800" u="none" strike="noStrike" dirty="0">
                          <a:effectLst/>
                        </a:rPr>
                        <a:t>2000-01-26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0.007549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-0.01285324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0.015842412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0.002553833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0.013740846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0.014258271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0.013617974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0.014027847</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1015084787"/>
                  </a:ext>
                </a:extLst>
              </a:tr>
              <a:tr h="150246">
                <a:tc>
                  <a:txBody>
                    <a:bodyPr/>
                    <a:lstStyle/>
                    <a:p>
                      <a:pPr algn="r" fontAlgn="b"/>
                      <a:r>
                        <a:rPr lang="en-US" sz="800" u="none" strike="noStrike" dirty="0">
                          <a:effectLst/>
                        </a:rPr>
                        <a:t>2000-01-27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-0.01325</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0.007548856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-0.01285324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0.015842412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0.014197302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0.013740846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0.014258271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0.013617974</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3400507208"/>
                  </a:ext>
                </a:extLst>
              </a:tr>
              <a:tr h="150246">
                <a:tc>
                  <a:txBody>
                    <a:bodyPr/>
                    <a:lstStyle/>
                    <a:p>
                      <a:pPr algn="r" fontAlgn="b"/>
                      <a:r>
                        <a:rPr lang="en-US" sz="800" u="none" strike="noStrike" dirty="0">
                          <a:effectLst/>
                        </a:rPr>
                        <a:t>2000-01-28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0.025783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-0.013251976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0.007548856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-0.01285324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0.014590031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0.014197302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0.013740846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0.014258271</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2655304143"/>
                  </a:ext>
                </a:extLst>
              </a:tr>
              <a:tr h="150246">
                <a:tc>
                  <a:txBody>
                    <a:bodyPr/>
                    <a:lstStyle/>
                    <a:p>
                      <a:pPr algn="r" fontAlgn="b"/>
                      <a:r>
                        <a:rPr lang="en-US" sz="800" u="none" strike="noStrike" dirty="0">
                          <a:effectLst/>
                        </a:rPr>
                        <a:t>2000-01-31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-0.01836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0.025783356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-0.013251976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0.007548856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0.015347558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0.014590031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0.014197302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0.013740846</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1443165506"/>
                  </a:ext>
                </a:extLst>
              </a:tr>
              <a:tr h="150246">
                <a:tc>
                  <a:txBody>
                    <a:bodyPr/>
                    <a:lstStyle/>
                    <a:p>
                      <a:pPr algn="r" fontAlgn="b"/>
                      <a:r>
                        <a:rPr lang="en-US" sz="800" u="none" strike="noStrike" dirty="0">
                          <a:effectLst/>
                        </a:rPr>
                        <a:t>2000-02-01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0.035826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-0.018360654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0.025783356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-0.013251976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0.016466481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0.015347558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0.014590031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0.014197302</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1499420918"/>
                  </a:ext>
                </a:extLst>
              </a:tr>
              <a:tr h="150246">
                <a:tc>
                  <a:txBody>
                    <a:bodyPr/>
                    <a:lstStyle/>
                    <a:p>
                      <a:pPr algn="r" fontAlgn="b"/>
                      <a:r>
                        <a:rPr lang="en-US" sz="800" u="none" strike="noStrike" dirty="0">
                          <a:effectLst/>
                        </a:rPr>
                        <a:t>2000-02-02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0.040901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0.035825998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-0.018360654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0.025783356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0.017728307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0.016466481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0.015347558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0.014590031</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2451767445"/>
                  </a:ext>
                </a:extLst>
              </a:tr>
              <a:tr h="150246">
                <a:tc>
                  <a:txBody>
                    <a:bodyPr/>
                    <a:lstStyle/>
                    <a:p>
                      <a:pPr algn="r" fontAlgn="b"/>
                      <a:r>
                        <a:rPr lang="en-US" sz="800" u="none" strike="noStrike" dirty="0">
                          <a:effectLst/>
                        </a:rPr>
                        <a:t>2000-02-03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0.005966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0.040900799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0.035825998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-0.018360654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0.017289773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0.017728307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0.016466481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0.015347558</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3263856400"/>
                  </a:ext>
                </a:extLst>
              </a:tr>
              <a:tr h="150246">
                <a:tc>
                  <a:txBody>
                    <a:bodyPr/>
                    <a:lstStyle/>
                    <a:p>
                      <a:pPr algn="r" fontAlgn="b"/>
                      <a:r>
                        <a:rPr lang="en-US" sz="800" u="none" strike="noStrike" dirty="0">
                          <a:effectLst/>
                        </a:rPr>
                        <a:t>2000-02-04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0.005266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0.00596555</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0.040900799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0.035825998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0.016887851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0.017289773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0.017728307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0.016466481</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2804629216"/>
                  </a:ext>
                </a:extLst>
              </a:tr>
              <a:tr h="150246">
                <a:tc>
                  <a:txBody>
                    <a:bodyPr/>
                    <a:lstStyle/>
                    <a:p>
                      <a:pPr algn="r" fontAlgn="b"/>
                      <a:r>
                        <a:rPr lang="en-US" sz="800" u="none" strike="noStrike" dirty="0">
                          <a:effectLst/>
                        </a:rPr>
                        <a:t>2000-02-07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0.019513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0.005265871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0.00596555</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0.040900799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0.016660732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0.016887851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0.017289773</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0.017728307</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4172925158"/>
                  </a:ext>
                </a:extLst>
              </a:tr>
              <a:tr h="150246">
                <a:tc>
                  <a:txBody>
                    <a:bodyPr/>
                    <a:lstStyle/>
                    <a:p>
                      <a:pPr algn="r" fontAlgn="b"/>
                      <a:r>
                        <a:rPr lang="en-US" sz="800" u="none" strike="noStrike" dirty="0">
                          <a:effectLst/>
                        </a:rPr>
                        <a:t>2000-02-08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0.00404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0.019513092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0.005265871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0.00596555</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0.016324799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0.016660732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0.016887851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0.017289773</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316184831"/>
                  </a:ext>
                </a:extLst>
              </a:tr>
              <a:tr h="150246">
                <a:tc>
                  <a:txBody>
                    <a:bodyPr/>
                    <a:lstStyle/>
                    <a:p>
                      <a:pPr algn="r" fontAlgn="b"/>
                      <a:r>
                        <a:rPr lang="en-US" sz="800" u="none" strike="noStrike" dirty="0">
                          <a:effectLst/>
                        </a:rPr>
                        <a:t>2000-02-09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0.005658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0.004039532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0.019513092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0.005265871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0.015992699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0.016324799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0.016660732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0.016887851</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1145454166"/>
                  </a:ext>
                </a:extLst>
              </a:tr>
              <a:tr h="150246">
                <a:tc>
                  <a:txBody>
                    <a:bodyPr/>
                    <a:lstStyle/>
                    <a:p>
                      <a:pPr algn="r" fontAlgn="b"/>
                      <a:r>
                        <a:rPr lang="en-US" sz="800" u="none" strike="noStrike" dirty="0">
                          <a:effectLst/>
                        </a:rPr>
                        <a:t>2000-02-10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0.007259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0.005658051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0.004039532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0.019513092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0.015671734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0.015992699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0.016324799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0.016660732</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3295708692"/>
                  </a:ext>
                </a:extLst>
              </a:tr>
              <a:tr h="150246">
                <a:tc>
                  <a:txBody>
                    <a:bodyPr/>
                    <a:lstStyle/>
                    <a:p>
                      <a:pPr algn="r" fontAlgn="b"/>
                      <a:r>
                        <a:rPr lang="en-US" sz="800" u="none" strike="noStrike" dirty="0">
                          <a:effectLst/>
                        </a:rPr>
                        <a:t>2000-02-11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0.010411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0.007259269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0.005658051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0.004039532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0.015371648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0.015671734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0.015992699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0.016324799</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1202291427"/>
                  </a:ext>
                </a:extLst>
              </a:tr>
              <a:tr h="150246">
                <a:tc>
                  <a:txBody>
                    <a:bodyPr/>
                    <a:lstStyle/>
                    <a:p>
                      <a:pPr algn="r" fontAlgn="b"/>
                      <a:r>
                        <a:rPr lang="en-US" sz="800" u="none" strike="noStrike" dirty="0">
                          <a:effectLst/>
                        </a:rPr>
                        <a:t>2000-02-14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-0.02112</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0.010410508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0.007259269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0.005658051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0.016096136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0.015371648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0.015671734</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0.015992699</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2228412100"/>
                  </a:ext>
                </a:extLst>
              </a:tr>
              <a:tr h="150246">
                <a:tc>
                  <a:txBody>
                    <a:bodyPr/>
                    <a:lstStyle/>
                    <a:p>
                      <a:pPr algn="r" fontAlgn="b"/>
                      <a:r>
                        <a:rPr lang="en-US" sz="800" u="none" strike="noStrike" dirty="0">
                          <a:effectLst/>
                        </a:rPr>
                        <a:t>2000-02-15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-0.03176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-0.02111946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0.010410508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0.007259269</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0.017409891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0.016096136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0.015371648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0.015671734</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2838290235"/>
                  </a:ext>
                </a:extLst>
              </a:tr>
              <a:tr h="150246">
                <a:tc>
                  <a:txBody>
                    <a:bodyPr/>
                    <a:lstStyle/>
                    <a:p>
                      <a:pPr algn="r" fontAlgn="b"/>
                      <a:r>
                        <a:rPr lang="en-US" sz="800" u="none" strike="noStrike" dirty="0">
                          <a:effectLst/>
                        </a:rPr>
                        <a:t>2000-02-16 00:00:00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Sweden</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0.023121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-0.031764167</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-0.02111946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0.010410508</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l" fontAlgn="b"/>
                      <a:r>
                        <a:rPr lang="en-US" sz="800" u="none" strike="noStrike" dirty="0">
                          <a:effectLst/>
                        </a:rPr>
                        <a:t>2000-Q1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0.017384281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0.017409891</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0.016096136</a:t>
                      </a:r>
                      <a:endParaRPr lang="en-US" sz="800" b="0" i="0" u="none" strike="noStrike" dirty="0">
                        <a:solidFill>
                          <a:srgbClr val="000000"/>
                        </a:solidFill>
                        <a:effectLst/>
                        <a:latin typeface="Calibri" panose="020F0502020204030204" pitchFamily="34" charset="0"/>
                      </a:endParaRPr>
                    </a:p>
                  </a:txBody>
                  <a:tcPr marL="7086" marR="7086" marT="7086" marB="0" anchor="b"/>
                </a:tc>
                <a:tc>
                  <a:txBody>
                    <a:bodyPr/>
                    <a:lstStyle/>
                    <a:p>
                      <a:pPr algn="r" fontAlgn="b"/>
                      <a:r>
                        <a:rPr lang="en-US" sz="800" u="none" strike="noStrike" dirty="0">
                          <a:effectLst/>
                        </a:rPr>
                        <a:t>0.015371648</a:t>
                      </a:r>
                      <a:endParaRPr lang="en-US" sz="800" b="0" i="0" u="none" strike="noStrike" dirty="0">
                        <a:solidFill>
                          <a:srgbClr val="000000"/>
                        </a:solidFill>
                        <a:effectLst/>
                        <a:latin typeface="Calibri" panose="020F0502020204030204" pitchFamily="34" charset="0"/>
                      </a:endParaRPr>
                    </a:p>
                  </a:txBody>
                  <a:tcPr marL="7086" marR="7086" marT="7086" marB="0" anchor="b"/>
                </a:tc>
                <a:extLst>
                  <a:ext uri="{0D108BD9-81ED-4DB2-BD59-A6C34878D82A}">
                    <a16:rowId xmlns:a16="http://schemas.microsoft.com/office/drawing/2014/main" val="3286480075"/>
                  </a:ext>
                </a:extLst>
              </a:tr>
            </a:tbl>
          </a:graphicData>
        </a:graphic>
      </p:graphicFrame>
    </p:spTree>
    <p:extLst>
      <p:ext uri="{BB962C8B-B14F-4D97-AF65-F5344CB8AC3E}">
        <p14:creationId xmlns:p14="http://schemas.microsoft.com/office/powerpoint/2010/main" val="4037925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BD2D9-5547-4DC2-4E20-B97688AD826C}"/>
              </a:ext>
            </a:extLst>
          </p:cNvPr>
          <p:cNvSpPr>
            <a:spLocks noGrp="1"/>
          </p:cNvSpPr>
          <p:nvPr>
            <p:ph type="title"/>
          </p:nvPr>
        </p:nvSpPr>
        <p:spPr>
          <a:xfrm>
            <a:off x="1295400" y="397702"/>
            <a:ext cx="9601200" cy="1485900"/>
          </a:xfrm>
        </p:spPr>
        <p:txBody>
          <a:bodyPr/>
          <a:lstStyle/>
          <a:p>
            <a:r>
              <a:rPr lang="en-US" b="1" dirty="0"/>
              <a:t>Results and conclusions</a:t>
            </a:r>
          </a:p>
        </p:txBody>
      </p:sp>
      <p:sp>
        <p:nvSpPr>
          <p:cNvPr id="3" name="Content Placeholder 2">
            <a:extLst>
              <a:ext uri="{FF2B5EF4-FFF2-40B4-BE49-F238E27FC236}">
                <a16:creationId xmlns:a16="http://schemas.microsoft.com/office/drawing/2014/main" id="{38C574BE-F07F-894C-6D59-461C90BA0F22}"/>
              </a:ext>
            </a:extLst>
          </p:cNvPr>
          <p:cNvSpPr>
            <a:spLocks noGrp="1"/>
          </p:cNvSpPr>
          <p:nvPr>
            <p:ph idx="1"/>
          </p:nvPr>
        </p:nvSpPr>
        <p:spPr>
          <a:xfrm>
            <a:off x="914400" y="3084830"/>
            <a:ext cx="10515600" cy="4351338"/>
          </a:xfrm>
        </p:spPr>
        <p:txBody>
          <a:bodyPr/>
          <a:lstStyle/>
          <a:p>
            <a:r>
              <a:rPr lang="en-US" dirty="0"/>
              <a:t>DM</a:t>
            </a:r>
          </a:p>
          <a:p>
            <a:pPr lvl="1"/>
            <a:r>
              <a:rPr lang="en-US" dirty="0"/>
              <a:t>During the Mercury Retrograde period, the volatility is significantly higher</a:t>
            </a:r>
          </a:p>
          <a:p>
            <a:pPr lvl="1"/>
            <a:r>
              <a:rPr lang="en-US" dirty="0"/>
              <a:t>Developed markets often have higher liquidity and a greater number of participants who react to global news and sentiment shifts, potentially amplifying volatility</a:t>
            </a:r>
          </a:p>
          <a:p>
            <a:r>
              <a:rPr lang="en-US" dirty="0"/>
              <a:t>EM</a:t>
            </a:r>
          </a:p>
          <a:p>
            <a:pPr lvl="1"/>
            <a:r>
              <a:rPr lang="en-US" dirty="0"/>
              <a:t>During the Mercury Retrograde period, the volatility is significantly lower</a:t>
            </a:r>
          </a:p>
          <a:p>
            <a:pPr lvl="1"/>
            <a:r>
              <a:rPr lang="en-US" dirty="0"/>
              <a:t>Investor caution and decreased trading activity rather than heightened turmoil</a:t>
            </a:r>
          </a:p>
          <a:p>
            <a:pPr lvl="1"/>
            <a:r>
              <a:rPr lang="en-US" dirty="0"/>
              <a:t>Bad mood and anxiety may affect investor decisions; anxious people may be more pessimistic regarding future returns, tend to take less risk (Guy </a:t>
            </a:r>
            <a:r>
              <a:rPr lang="en-US" dirty="0" err="1"/>
              <a:t>Kaplanski</a:t>
            </a:r>
            <a:r>
              <a:rPr lang="en-US" dirty="0"/>
              <a:t> 2008)</a:t>
            </a:r>
          </a:p>
          <a:p>
            <a:pPr lvl="1"/>
            <a:endParaRPr lang="en-US" dirty="0"/>
          </a:p>
          <a:p>
            <a:endParaRPr lang="en-US" dirty="0"/>
          </a:p>
        </p:txBody>
      </p:sp>
      <p:graphicFrame>
        <p:nvGraphicFramePr>
          <p:cNvPr id="4" name="Table 3">
            <a:extLst>
              <a:ext uri="{FF2B5EF4-FFF2-40B4-BE49-F238E27FC236}">
                <a16:creationId xmlns:a16="http://schemas.microsoft.com/office/drawing/2014/main" id="{75601FC3-D112-E9A0-AD8A-2A19A70CEB04}"/>
              </a:ext>
            </a:extLst>
          </p:cNvPr>
          <p:cNvGraphicFramePr>
            <a:graphicFrameLocks noGrp="1"/>
          </p:cNvGraphicFramePr>
          <p:nvPr>
            <p:extLst>
              <p:ext uri="{D42A27DB-BD31-4B8C-83A1-F6EECF244321}">
                <p14:modId xmlns:p14="http://schemas.microsoft.com/office/powerpoint/2010/main" val="3914008564"/>
              </p:ext>
            </p:extLst>
          </p:nvPr>
        </p:nvGraphicFramePr>
        <p:xfrm>
          <a:off x="1295400" y="1278438"/>
          <a:ext cx="8702844" cy="1656080"/>
        </p:xfrm>
        <a:graphic>
          <a:graphicData uri="http://schemas.openxmlformats.org/drawingml/2006/table">
            <a:tbl>
              <a:tblPr firstRow="1" bandRow="1">
                <a:tableStyleId>{5C22544A-7EE6-4342-B048-85BDC9FD1C3A}</a:tableStyleId>
              </a:tblPr>
              <a:tblGrid>
                <a:gridCol w="1450474">
                  <a:extLst>
                    <a:ext uri="{9D8B030D-6E8A-4147-A177-3AD203B41FA5}">
                      <a16:colId xmlns:a16="http://schemas.microsoft.com/office/drawing/2014/main" val="2610971833"/>
                    </a:ext>
                  </a:extLst>
                </a:gridCol>
                <a:gridCol w="1450474">
                  <a:extLst>
                    <a:ext uri="{9D8B030D-6E8A-4147-A177-3AD203B41FA5}">
                      <a16:colId xmlns:a16="http://schemas.microsoft.com/office/drawing/2014/main" val="1815607244"/>
                    </a:ext>
                  </a:extLst>
                </a:gridCol>
                <a:gridCol w="1450474">
                  <a:extLst>
                    <a:ext uri="{9D8B030D-6E8A-4147-A177-3AD203B41FA5}">
                      <a16:colId xmlns:a16="http://schemas.microsoft.com/office/drawing/2014/main" val="538990001"/>
                    </a:ext>
                  </a:extLst>
                </a:gridCol>
                <a:gridCol w="1450474">
                  <a:extLst>
                    <a:ext uri="{9D8B030D-6E8A-4147-A177-3AD203B41FA5}">
                      <a16:colId xmlns:a16="http://schemas.microsoft.com/office/drawing/2014/main" val="1213434970"/>
                    </a:ext>
                  </a:extLst>
                </a:gridCol>
                <a:gridCol w="1450474">
                  <a:extLst>
                    <a:ext uri="{9D8B030D-6E8A-4147-A177-3AD203B41FA5}">
                      <a16:colId xmlns:a16="http://schemas.microsoft.com/office/drawing/2014/main" val="4231243217"/>
                    </a:ext>
                  </a:extLst>
                </a:gridCol>
                <a:gridCol w="1450474">
                  <a:extLst>
                    <a:ext uri="{9D8B030D-6E8A-4147-A177-3AD203B41FA5}">
                      <a16:colId xmlns:a16="http://schemas.microsoft.com/office/drawing/2014/main" val="1257315193"/>
                    </a:ext>
                  </a:extLst>
                </a:gridCol>
              </a:tblGrid>
              <a:tr h="370840">
                <a:tc>
                  <a:txBody>
                    <a:bodyPr/>
                    <a:lstStyle/>
                    <a:p>
                      <a:endParaRPr lang="en-US" dirty="0"/>
                    </a:p>
                  </a:txBody>
                  <a:tcPr/>
                </a:tc>
                <a:tc>
                  <a:txBody>
                    <a:bodyPr/>
                    <a:lstStyle/>
                    <a:p>
                      <a:r>
                        <a:rPr lang="en-US" dirty="0"/>
                        <a:t>Coefficient of Mercury_t</a:t>
                      </a:r>
                    </a:p>
                  </a:txBody>
                  <a:tcPr/>
                </a:tc>
                <a:tc>
                  <a:txBody>
                    <a:bodyPr/>
                    <a:lstStyle/>
                    <a:p>
                      <a:r>
                        <a:rPr lang="en-US" dirty="0"/>
                        <a:t>T statistics</a:t>
                      </a:r>
                    </a:p>
                  </a:txBody>
                  <a:tcPr/>
                </a:tc>
                <a:tc>
                  <a:txBody>
                    <a:bodyPr/>
                    <a:lstStyle/>
                    <a:p>
                      <a:r>
                        <a:rPr lang="en-US" dirty="0"/>
                        <a:t>P value</a:t>
                      </a:r>
                    </a:p>
                  </a:txBody>
                  <a:tcPr/>
                </a:tc>
                <a:tc>
                  <a:txBody>
                    <a:bodyPr/>
                    <a:lstStyle/>
                    <a:p>
                      <a:r>
                        <a:rPr lang="en-US" b="1" dirty="0"/>
                        <a:t>Adjusted R^2</a:t>
                      </a:r>
                    </a:p>
                  </a:txBody>
                  <a:tcPr/>
                </a:tc>
                <a:tc>
                  <a:txBody>
                    <a:bodyPr/>
                    <a:lstStyle/>
                    <a:p>
                      <a:r>
                        <a:rPr lang="en-US" sz="1800" b="1" i="0" kern="1200" dirty="0">
                          <a:solidFill>
                            <a:schemeClr val="lt1"/>
                          </a:solidFill>
                          <a:effectLst/>
                          <a:latin typeface="+mn-lt"/>
                          <a:ea typeface="+mn-ea"/>
                          <a:cs typeface="+mn-cs"/>
                        </a:rPr>
                        <a:t>No. Observations</a:t>
                      </a:r>
                      <a:endParaRPr lang="en-US" b="1" dirty="0"/>
                    </a:p>
                  </a:txBody>
                  <a:tcPr/>
                </a:tc>
                <a:extLst>
                  <a:ext uri="{0D108BD9-81ED-4DB2-BD59-A6C34878D82A}">
                    <a16:rowId xmlns:a16="http://schemas.microsoft.com/office/drawing/2014/main" val="2172230328"/>
                  </a:ext>
                </a:extLst>
              </a:tr>
              <a:tr h="370840">
                <a:tc>
                  <a:txBody>
                    <a:bodyPr/>
                    <a:lstStyle/>
                    <a:p>
                      <a:r>
                        <a:rPr lang="en-US" dirty="0"/>
                        <a:t>DM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9.86e-06</a:t>
                      </a:r>
                    </a:p>
                  </a:txBody>
                  <a:tcPr/>
                </a:tc>
                <a:tc>
                  <a:txBody>
                    <a:bodyPr/>
                    <a:lstStyle/>
                    <a:p>
                      <a:r>
                        <a:rPr lang="en-US" sz="1800" b="0" i="0" kern="1200" dirty="0">
                          <a:solidFill>
                            <a:schemeClr val="dk1"/>
                          </a:solidFill>
                          <a:effectLst/>
                          <a:latin typeface="+mn-lt"/>
                          <a:ea typeface="+mn-ea"/>
                          <a:cs typeface="+mn-cs"/>
                        </a:rPr>
                        <a:t>2.666 </a:t>
                      </a:r>
                      <a:endParaRPr lang="en-US" dirty="0"/>
                    </a:p>
                  </a:txBody>
                  <a:tcPr/>
                </a:tc>
                <a:tc>
                  <a:txBody>
                    <a:bodyPr/>
                    <a:lstStyle/>
                    <a:p>
                      <a:r>
                        <a:rPr lang="en-US" sz="1800" b="0" i="0" kern="1200" dirty="0">
                          <a:solidFill>
                            <a:schemeClr val="dk1"/>
                          </a:solidFill>
                          <a:effectLst/>
                          <a:latin typeface="+mn-lt"/>
                          <a:ea typeface="+mn-ea"/>
                          <a:cs typeface="+mn-cs"/>
                        </a:rPr>
                        <a:t>0.008 ***</a:t>
                      </a:r>
                      <a:endParaRPr lang="en-US" dirty="0"/>
                    </a:p>
                  </a:txBody>
                  <a:tcPr/>
                </a:tc>
                <a:tc>
                  <a:txBody>
                    <a:bodyPr/>
                    <a:lstStyle/>
                    <a:p>
                      <a:r>
                        <a:rPr lang="en-US" dirty="0"/>
                        <a:t>99.2%</a:t>
                      </a:r>
                    </a:p>
                  </a:txBody>
                  <a:tcPr/>
                </a:tc>
                <a:tc>
                  <a:txBody>
                    <a:bodyPr/>
                    <a:lstStyle/>
                    <a:p>
                      <a:r>
                        <a:rPr lang="en-US" sz="1800" b="0" i="0" kern="1200" dirty="0">
                          <a:solidFill>
                            <a:schemeClr val="dk1"/>
                          </a:solidFill>
                          <a:effectLst/>
                          <a:latin typeface="+mn-lt"/>
                          <a:ea typeface="+mn-ea"/>
                          <a:cs typeface="+mn-cs"/>
                        </a:rPr>
                        <a:t>156050 </a:t>
                      </a:r>
                      <a:endParaRPr lang="en-US" dirty="0"/>
                    </a:p>
                  </a:txBody>
                  <a:tcPr/>
                </a:tc>
                <a:extLst>
                  <a:ext uri="{0D108BD9-81ED-4DB2-BD59-A6C34878D82A}">
                    <a16:rowId xmlns:a16="http://schemas.microsoft.com/office/drawing/2014/main" val="786324989"/>
                  </a:ext>
                </a:extLst>
              </a:tr>
              <a:tr h="370840">
                <a:tc>
                  <a:txBody>
                    <a:bodyPr/>
                    <a:lstStyle/>
                    <a:p>
                      <a:r>
                        <a:rPr lang="en-US" dirty="0"/>
                        <a:t>EM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-1.301e-05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-2.006 </a:t>
                      </a:r>
                    </a:p>
                  </a:txBody>
                  <a:tcPr/>
                </a:tc>
                <a:tc>
                  <a:txBody>
                    <a:bodyPr/>
                    <a:lstStyle/>
                    <a:p>
                      <a:r>
                        <a:rPr lang="en-US" sz="1800" b="0" i="0" kern="1200" dirty="0">
                          <a:solidFill>
                            <a:schemeClr val="dk1"/>
                          </a:solidFill>
                          <a:effectLst/>
                          <a:latin typeface="+mn-lt"/>
                          <a:ea typeface="+mn-ea"/>
                          <a:cs typeface="+mn-cs"/>
                        </a:rPr>
                        <a:t>0.045 ***</a:t>
                      </a:r>
                      <a:endParaRPr lang="en-US" dirty="0"/>
                    </a:p>
                  </a:txBody>
                  <a:tcPr/>
                </a:tc>
                <a:tc>
                  <a:txBody>
                    <a:bodyPr/>
                    <a:lstStyle/>
                    <a:p>
                      <a:r>
                        <a:rPr lang="en-US" dirty="0"/>
                        <a:t>99.1%</a:t>
                      </a:r>
                    </a:p>
                  </a:txBody>
                  <a:tcPr/>
                </a:tc>
                <a:tc>
                  <a:txBody>
                    <a:bodyPr/>
                    <a:lstStyle/>
                    <a:p>
                      <a:r>
                        <a:rPr lang="en-US" sz="1800" b="0" i="0" kern="1200" dirty="0">
                          <a:solidFill>
                            <a:schemeClr val="dk1"/>
                          </a:solidFill>
                          <a:effectLst/>
                          <a:latin typeface="+mn-lt"/>
                          <a:ea typeface="+mn-ea"/>
                          <a:cs typeface="+mn-cs"/>
                        </a:rPr>
                        <a:t>57888</a:t>
                      </a:r>
                      <a:endParaRPr lang="en-US" dirty="0"/>
                    </a:p>
                  </a:txBody>
                  <a:tcPr/>
                </a:tc>
                <a:extLst>
                  <a:ext uri="{0D108BD9-81ED-4DB2-BD59-A6C34878D82A}">
                    <a16:rowId xmlns:a16="http://schemas.microsoft.com/office/drawing/2014/main" val="4178497847"/>
                  </a:ext>
                </a:extLst>
              </a:tr>
            </a:tbl>
          </a:graphicData>
        </a:graphic>
      </p:graphicFrame>
    </p:spTree>
    <p:extLst>
      <p:ext uri="{BB962C8B-B14F-4D97-AF65-F5344CB8AC3E}">
        <p14:creationId xmlns:p14="http://schemas.microsoft.com/office/powerpoint/2010/main" val="1747624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BA77-75C9-3E96-777E-2B1EF72FA57D}"/>
              </a:ext>
            </a:extLst>
          </p:cNvPr>
          <p:cNvSpPr>
            <a:spLocks noGrp="1"/>
          </p:cNvSpPr>
          <p:nvPr>
            <p:ph type="title"/>
          </p:nvPr>
        </p:nvSpPr>
        <p:spPr/>
        <p:txBody>
          <a:bodyPr/>
          <a:lstStyle/>
          <a:p>
            <a:r>
              <a:rPr lang="en-US" b="1" dirty="0"/>
              <a:t>Model 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31ED212-57D8-3437-2B66-8FE3BC974575}"/>
                  </a:ext>
                </a:extLst>
              </p:cNvPr>
              <p:cNvSpPr>
                <a:spLocks noGrp="1"/>
              </p:cNvSpPr>
              <p:nvPr>
                <p:ph idx="1"/>
              </p:nvPr>
            </p:nvSpPr>
            <p:spPr/>
            <p:txBody>
              <a:bodyPr/>
              <a:lstStyle/>
              <a:p>
                <a:r>
                  <a:rPr lang="en-US" dirty="0"/>
                  <a:t>H2</a:t>
                </a:r>
                <a:r>
                  <a:rPr lang="en-US" altLang="zh-CN" dirty="0"/>
                  <a:t>:</a:t>
                </a:r>
                <a:r>
                  <a:rPr lang="zh-CN" altLang="en-US" dirty="0"/>
                  <a:t> </a:t>
                </a:r>
                <a:r>
                  <a:rPr lang="en-US" altLang="zh-CN" dirty="0"/>
                  <a:t>The Mercury Retrograde has a significant influence on market return</a:t>
                </a: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𝑛</m:t>
                        </m:r>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𝑖</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sub>
                        </m:sSub>
                      </m:e>
                    </m:nary>
                  </m:oMath>
                </a14:m>
                <a:r>
                  <a:rPr lang="en-US" dirty="0"/>
                  <a:t> </a:t>
                </a:r>
                <a14:m>
                  <m:oMath xmlns:m="http://schemas.openxmlformats.org/officeDocument/2006/math">
                    <m:r>
                      <a:rPr lang="en-US" b="0" i="0" smtClean="0">
                        <a:latin typeface="Cambria Math" panose="02040503050406030204" pitchFamily="18" charset="0"/>
                      </a:rPr>
                      <m:t>+</m:t>
                    </m:r>
                  </m:oMath>
                </a14:m>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𝜃</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𝐷𝑀𝑅</m:t>
                        </m:r>
                      </m:e>
                      <m:sub>
                        <m:r>
                          <a:rPr lang="en-US" b="0" i="1" smtClean="0">
                            <a:latin typeface="Cambria Math" panose="02040503050406030204" pitchFamily="18" charset="0"/>
                            <a:ea typeface="Cambria Math" panose="02040503050406030204" pitchFamily="18" charset="0"/>
                          </a:rPr>
                          <m:t>𝑡</m:t>
                        </m:r>
                      </m:sub>
                    </m:sSub>
                    <m:r>
                      <a:rPr lang="en-US" b="0" i="0"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𝑒</m:t>
                        </m:r>
                      </m:e>
                      <m:sub>
                        <m:r>
                          <a:rPr lang="en-US" b="0" i="1" smtClean="0">
                            <a:latin typeface="Cambria Math" panose="02040503050406030204" pitchFamily="18" charset="0"/>
                            <a:ea typeface="Cambria Math" panose="02040503050406030204" pitchFamily="18" charset="0"/>
                          </a:rPr>
                          <m:t>𝑡</m:t>
                        </m:r>
                      </m:sub>
                    </m:sSub>
                  </m:oMath>
                </a14:m>
                <a:endParaRPr lang="en-US" altLang="zh-CN" dirty="0"/>
              </a:p>
              <a:p>
                <a:pPr lvl="1"/>
                <a:r>
                  <a:rPr lang="en-US" dirty="0"/>
                  <a:t>Fit the data with ARMA model </a:t>
                </a:r>
              </a:p>
              <a:p>
                <a:pPr lvl="2"/>
                <a:r>
                  <a:rPr lang="en-US" dirty="0"/>
                  <a:t>Use </a:t>
                </a:r>
                <a:r>
                  <a:rPr lang="en-US" i="1" dirty="0"/>
                  <a:t>auto_arima </a:t>
                </a:r>
                <a:r>
                  <a:rPr lang="en-US" dirty="0"/>
                  <a:t>function in python to generate the model that fit the data best</a:t>
                </a:r>
              </a:p>
              <a:p>
                <a:pPr lvl="1"/>
                <a:r>
                  <a:rPr lang="en-US" altLang="zh-CN" dirty="0"/>
                  <a:t>Introduce a dummy variable </a:t>
                </a:r>
                <a14:m>
                  <m:oMath xmlns:m="http://schemas.openxmlformats.org/officeDocument/2006/math">
                    <m:r>
                      <a:rPr lang="en-US" b="0" i="1" smtClean="0">
                        <a:latin typeface="Cambria Math" panose="02040503050406030204" pitchFamily="18" charset="0"/>
                        <a:ea typeface="Cambria Math" panose="02040503050406030204" pitchFamily="18" charset="0"/>
                      </a:rPr>
                      <m:t>𝐷𝑀𝑅</m:t>
                    </m:r>
                  </m:oMath>
                </a14:m>
                <a:r>
                  <a:rPr lang="en-US" dirty="0"/>
                  <a:t>, which equals to 1 when in event period, and equals to 0 when in non-event period</a:t>
                </a:r>
              </a:p>
              <a:p>
                <a:pPr lvl="1"/>
                <a:r>
                  <a:rPr lang="en-US" dirty="0"/>
                  <a:t> T- test </a:t>
                </a:r>
              </a:p>
            </p:txBody>
          </p:sp>
        </mc:Choice>
        <mc:Fallback>
          <p:sp>
            <p:nvSpPr>
              <p:cNvPr id="3" name="Content Placeholder 2">
                <a:extLst>
                  <a:ext uri="{FF2B5EF4-FFF2-40B4-BE49-F238E27FC236}">
                    <a16:creationId xmlns:a16="http://schemas.microsoft.com/office/drawing/2014/main" id="{231ED212-57D8-3437-2B66-8FE3BC974575}"/>
                  </a:ext>
                </a:extLst>
              </p:cNvPr>
              <p:cNvSpPr>
                <a:spLocks noGrp="1" noRot="1" noChangeAspect="1" noMove="1" noResize="1" noEditPoints="1" noAdjustHandles="1" noChangeArrowheads="1" noChangeShapeType="1" noTextEdit="1"/>
              </p:cNvSpPr>
              <p:nvPr>
                <p:ph idx="1"/>
              </p:nvPr>
            </p:nvSpPr>
            <p:spPr>
              <a:blipFill>
                <a:blip r:embed="rId2"/>
                <a:stretch>
                  <a:fillRect l="-661" t="-3180" r="-925"/>
                </a:stretch>
              </a:blipFill>
            </p:spPr>
            <p:txBody>
              <a:bodyPr/>
              <a:lstStyle/>
              <a:p>
                <a:r>
                  <a:rPr lang="en-US">
                    <a:noFill/>
                  </a:rPr>
                  <a:t> </a:t>
                </a:r>
              </a:p>
            </p:txBody>
          </p:sp>
        </mc:Fallback>
      </mc:AlternateContent>
    </p:spTree>
    <p:extLst>
      <p:ext uri="{BB962C8B-B14F-4D97-AF65-F5344CB8AC3E}">
        <p14:creationId xmlns:p14="http://schemas.microsoft.com/office/powerpoint/2010/main" val="3033374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2D8E3-5FC8-608F-049C-A8FD20611898}"/>
              </a:ext>
            </a:extLst>
          </p:cNvPr>
          <p:cNvSpPr>
            <a:spLocks noGrp="1"/>
          </p:cNvSpPr>
          <p:nvPr>
            <p:ph type="title"/>
          </p:nvPr>
        </p:nvSpPr>
        <p:spPr/>
        <p:txBody>
          <a:bodyPr/>
          <a:lstStyle/>
          <a:p>
            <a:r>
              <a:rPr lang="en-US" b="1" dirty="0"/>
              <a:t>Model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13F634-E676-15FB-3374-AAAD6032A74D}"/>
                  </a:ext>
                </a:extLst>
              </p:cNvPr>
              <p:cNvSpPr>
                <a:spLocks noGrp="1"/>
              </p:cNvSpPr>
              <p:nvPr>
                <p:ph idx="1"/>
              </p:nvPr>
            </p:nvSpPr>
            <p:spPr/>
            <p:txBody>
              <a:bodyPr>
                <a:normAutofit fontScale="92500" lnSpcReduction="20000"/>
              </a:bodyPr>
              <a:lstStyle/>
              <a:p>
                <a:r>
                  <a:rPr lang="en-US" dirty="0"/>
                  <a:t>H</a:t>
                </a:r>
                <a:r>
                  <a:rPr lang="en-US" altLang="zh-CN" dirty="0"/>
                  <a:t>3</a:t>
                </a:r>
                <a:r>
                  <a:rPr lang="en-US" dirty="0"/>
                  <a:t>: During the Mercury Retrograde period, there is a significant cumulated abnormal return either negative or positive</a:t>
                </a: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𝑛</m:t>
                        </m:r>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𝑖</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sub>
                        </m:sSub>
                      </m:e>
                    </m:nary>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𝑒</m:t>
                        </m:r>
                      </m:e>
                      <m:sub>
                        <m:r>
                          <a:rPr lang="en-US" b="0" i="1" smtClean="0">
                            <a:latin typeface="Cambria Math" panose="02040503050406030204" pitchFamily="18" charset="0"/>
                            <a:ea typeface="Cambria Math" panose="02040503050406030204" pitchFamily="18" charset="0"/>
                          </a:rPr>
                          <m:t>𝑡</m:t>
                        </m:r>
                      </m:sub>
                    </m:sSub>
                    <m:r>
                      <a:rPr lang="zh-CN" altLang="en-US" b="0" i="1" smtClean="0">
                        <a:latin typeface="Cambria Math" panose="02040503050406030204" pitchFamily="18" charset="0"/>
                        <a:ea typeface="Cambria Math" panose="02040503050406030204" pitchFamily="18" charset="0"/>
                      </a:rPr>
                      <m:t> </m:t>
                    </m:r>
                  </m:oMath>
                </a14:m>
                <a:endParaRPr lang="en-US" dirty="0"/>
              </a:p>
              <a:p>
                <a:pPr lvl="1"/>
                <a:r>
                  <a:rPr lang="en-US" dirty="0"/>
                  <a:t>Fit the data with ARMA model</a:t>
                </a:r>
              </a:p>
              <a:p>
                <a:pPr lvl="2"/>
                <a:r>
                  <a:rPr lang="en-US" dirty="0"/>
                  <a:t>Use </a:t>
                </a:r>
                <a:r>
                  <a:rPr lang="en-US" i="1" dirty="0"/>
                  <a:t>auto_arima </a:t>
                </a:r>
                <a:r>
                  <a:rPr lang="en-US" dirty="0"/>
                  <a:t>function in python to generate the model that fit the data best</a:t>
                </a:r>
              </a:p>
              <a:p>
                <a:pPr lvl="1"/>
                <a:r>
                  <a:rPr lang="en-US" dirty="0"/>
                  <a:t>Event Window Analysis</a:t>
                </a:r>
              </a:p>
              <a:p>
                <a:pPr lvl="2"/>
                <a:r>
                  <a:rPr lang="en-US" dirty="0"/>
                  <a:t>For each event period, calculates abnormal returns by subtracting normal returns from actual returns</a:t>
                </a:r>
              </a:p>
              <a:p>
                <a:pPr lvl="2"/>
                <a:r>
                  <a:rPr lang="en-US" dirty="0"/>
                  <a:t>Computes cumulative abnormal returns (CAR) by taking a cumulative sum of the abnormal returns</a:t>
                </a:r>
              </a:p>
              <a:p>
                <a:pPr lvl="1"/>
                <a:r>
                  <a:rPr lang="en-US" dirty="0"/>
                  <a:t>Significance Testing</a:t>
                </a:r>
              </a:p>
              <a:p>
                <a:pPr lvl="2"/>
                <a:r>
                  <a:rPr lang="en-US" dirty="0"/>
                  <a:t>Against zero</a:t>
                </a:r>
              </a:p>
            </p:txBody>
          </p:sp>
        </mc:Choice>
        <mc:Fallback xmlns="">
          <p:sp>
            <p:nvSpPr>
              <p:cNvPr id="3" name="Content Placeholder 2">
                <a:extLst>
                  <a:ext uri="{FF2B5EF4-FFF2-40B4-BE49-F238E27FC236}">
                    <a16:creationId xmlns:a16="http://schemas.microsoft.com/office/drawing/2014/main" id="{9D13F634-E676-15FB-3374-AAAD6032A74D}"/>
                  </a:ext>
                </a:extLst>
              </p:cNvPr>
              <p:cNvSpPr>
                <a:spLocks noGrp="1" noRot="1" noChangeAspect="1" noMove="1" noResize="1" noEditPoints="1" noAdjustHandles="1" noChangeArrowheads="1" noChangeShapeType="1" noTextEdit="1"/>
              </p:cNvSpPr>
              <p:nvPr>
                <p:ph idx="1"/>
              </p:nvPr>
            </p:nvSpPr>
            <p:spPr>
              <a:blipFill>
                <a:blip r:embed="rId2"/>
                <a:stretch>
                  <a:fillRect l="-528" t="-2827"/>
                </a:stretch>
              </a:blipFill>
            </p:spPr>
            <p:txBody>
              <a:bodyPr/>
              <a:lstStyle/>
              <a:p>
                <a:r>
                  <a:rPr lang="en-US">
                    <a:noFill/>
                  </a:rPr>
                  <a:t> </a:t>
                </a:r>
              </a:p>
            </p:txBody>
          </p:sp>
        </mc:Fallback>
      </mc:AlternateContent>
    </p:spTree>
    <p:extLst>
      <p:ext uri="{BB962C8B-B14F-4D97-AF65-F5344CB8AC3E}">
        <p14:creationId xmlns:p14="http://schemas.microsoft.com/office/powerpoint/2010/main" val="217752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88AD-B439-6F90-23D4-4F6C92AE4DE7}"/>
              </a:ext>
            </a:extLst>
          </p:cNvPr>
          <p:cNvSpPr>
            <a:spLocks noGrp="1"/>
          </p:cNvSpPr>
          <p:nvPr>
            <p:ph type="title"/>
          </p:nvPr>
        </p:nvSpPr>
        <p:spPr/>
        <p:txBody>
          <a:bodyPr/>
          <a:lstStyle/>
          <a:p>
            <a:r>
              <a:rPr lang="en-US" b="1" dirty="0"/>
              <a:t>Results</a:t>
            </a:r>
          </a:p>
        </p:txBody>
      </p:sp>
      <p:graphicFrame>
        <p:nvGraphicFramePr>
          <p:cNvPr id="4" name="Table 4">
            <a:extLst>
              <a:ext uri="{FF2B5EF4-FFF2-40B4-BE49-F238E27FC236}">
                <a16:creationId xmlns:a16="http://schemas.microsoft.com/office/drawing/2014/main" id="{4E1A5E80-CD21-C17D-FDB1-F446C1888D3A}"/>
              </a:ext>
            </a:extLst>
          </p:cNvPr>
          <p:cNvGraphicFramePr>
            <a:graphicFrameLocks noGrp="1"/>
          </p:cNvGraphicFramePr>
          <p:nvPr>
            <p:ph idx="1"/>
            <p:extLst>
              <p:ext uri="{D42A27DB-BD31-4B8C-83A1-F6EECF244321}">
                <p14:modId xmlns:p14="http://schemas.microsoft.com/office/powerpoint/2010/main" val="2379456343"/>
              </p:ext>
            </p:extLst>
          </p:nvPr>
        </p:nvGraphicFramePr>
        <p:xfrm>
          <a:off x="1521912" y="1625252"/>
          <a:ext cx="7246307" cy="3748415"/>
        </p:xfrm>
        <a:graphic>
          <a:graphicData uri="http://schemas.openxmlformats.org/drawingml/2006/table">
            <a:tbl>
              <a:tblPr firstRow="1" bandRow="1">
                <a:tableStyleId>{5C22544A-7EE6-4342-B048-85BDC9FD1C3A}</a:tableStyleId>
              </a:tblPr>
              <a:tblGrid>
                <a:gridCol w="1246933">
                  <a:extLst>
                    <a:ext uri="{9D8B030D-6E8A-4147-A177-3AD203B41FA5}">
                      <a16:colId xmlns:a16="http://schemas.microsoft.com/office/drawing/2014/main" val="2926640082"/>
                    </a:ext>
                  </a:extLst>
                </a:gridCol>
                <a:gridCol w="2973737">
                  <a:extLst>
                    <a:ext uri="{9D8B030D-6E8A-4147-A177-3AD203B41FA5}">
                      <a16:colId xmlns:a16="http://schemas.microsoft.com/office/drawing/2014/main" val="2303922209"/>
                    </a:ext>
                  </a:extLst>
                </a:gridCol>
                <a:gridCol w="3025637">
                  <a:extLst>
                    <a:ext uri="{9D8B030D-6E8A-4147-A177-3AD203B41FA5}">
                      <a16:colId xmlns:a16="http://schemas.microsoft.com/office/drawing/2014/main" val="1325046493"/>
                    </a:ext>
                  </a:extLst>
                </a:gridCol>
              </a:tblGrid>
              <a:tr h="972278">
                <a:tc>
                  <a:txBody>
                    <a:bodyPr/>
                    <a:lstStyle/>
                    <a:p>
                      <a:r>
                        <a:rPr lang="en-US" dirty="0"/>
                        <a:t>Country</a:t>
                      </a:r>
                    </a:p>
                  </a:txBody>
                  <a:tcPr/>
                </a:tc>
                <a:tc>
                  <a:txBody>
                    <a:bodyPr/>
                    <a:lstStyle/>
                    <a:p>
                      <a:r>
                        <a:rPr lang="en-US" dirty="0"/>
                        <a:t>Percentage of periods that the influence is significant (level=10%)</a:t>
                      </a:r>
                    </a:p>
                  </a:txBody>
                  <a:tcPr/>
                </a:tc>
                <a:tc>
                  <a:txBody>
                    <a:bodyPr/>
                    <a:lstStyle/>
                    <a:p>
                      <a:r>
                        <a:rPr lang="en-US" dirty="0"/>
                        <a:t>Percentage of periods that the CAR is significant (level=5%)</a:t>
                      </a:r>
                    </a:p>
                  </a:txBody>
                  <a:tcPr/>
                </a:tc>
                <a:extLst>
                  <a:ext uri="{0D108BD9-81ED-4DB2-BD59-A6C34878D82A}">
                    <a16:rowId xmlns:a16="http://schemas.microsoft.com/office/drawing/2014/main" val="3151500341"/>
                  </a:ext>
                </a:extLst>
              </a:tr>
              <a:tr h="394313">
                <a:tc>
                  <a:txBody>
                    <a:bodyPr/>
                    <a:lstStyle/>
                    <a:p>
                      <a:r>
                        <a:rPr lang="en-US" dirty="0"/>
                        <a:t>US</a:t>
                      </a:r>
                    </a:p>
                  </a:txBody>
                  <a:tcPr/>
                </a:tc>
                <a:tc>
                  <a:txBody>
                    <a:bodyPr/>
                    <a:lstStyle/>
                    <a:p>
                      <a:r>
                        <a:rPr lang="en-US" dirty="0"/>
                        <a:t>62.5%</a:t>
                      </a:r>
                    </a:p>
                  </a:txBody>
                  <a:tcPr/>
                </a:tc>
                <a:tc>
                  <a:txBody>
                    <a:bodyPr/>
                    <a:lstStyle/>
                    <a:p>
                      <a:r>
                        <a:rPr lang="en-US" dirty="0"/>
                        <a:t>95.8%</a:t>
                      </a:r>
                    </a:p>
                  </a:txBody>
                  <a:tcPr/>
                </a:tc>
                <a:extLst>
                  <a:ext uri="{0D108BD9-81ED-4DB2-BD59-A6C34878D82A}">
                    <a16:rowId xmlns:a16="http://schemas.microsoft.com/office/drawing/2014/main" val="2058756270"/>
                  </a:ext>
                </a:extLst>
              </a:tr>
              <a:tr h="394313">
                <a:tc>
                  <a:txBody>
                    <a:bodyPr/>
                    <a:lstStyle/>
                    <a:p>
                      <a:r>
                        <a:rPr lang="en-US" dirty="0"/>
                        <a:t>Japan</a:t>
                      </a:r>
                    </a:p>
                  </a:txBody>
                  <a:tcPr/>
                </a:tc>
                <a:tc>
                  <a:txBody>
                    <a:bodyPr/>
                    <a:lstStyle/>
                    <a:p>
                      <a:r>
                        <a:rPr lang="en-US" dirty="0"/>
                        <a:t>58.3%</a:t>
                      </a:r>
                    </a:p>
                  </a:txBody>
                  <a:tcPr/>
                </a:tc>
                <a:tc>
                  <a:txBody>
                    <a:bodyPr/>
                    <a:lstStyle/>
                    <a:p>
                      <a:r>
                        <a:rPr lang="en-US" dirty="0"/>
                        <a:t>100%</a:t>
                      </a:r>
                    </a:p>
                  </a:txBody>
                  <a:tcPr/>
                </a:tc>
                <a:extLst>
                  <a:ext uri="{0D108BD9-81ED-4DB2-BD59-A6C34878D82A}">
                    <a16:rowId xmlns:a16="http://schemas.microsoft.com/office/drawing/2014/main" val="3629877252"/>
                  </a:ext>
                </a:extLst>
              </a:tr>
              <a:tr h="394313">
                <a:tc>
                  <a:txBody>
                    <a:bodyPr/>
                    <a:lstStyle/>
                    <a:p>
                      <a:r>
                        <a:rPr lang="en-US" dirty="0"/>
                        <a:t>France</a:t>
                      </a:r>
                    </a:p>
                  </a:txBody>
                  <a:tcPr/>
                </a:tc>
                <a:tc>
                  <a:txBody>
                    <a:bodyPr/>
                    <a:lstStyle/>
                    <a:p>
                      <a:r>
                        <a:rPr lang="en-US" dirty="0"/>
                        <a:t>70.8%</a:t>
                      </a:r>
                    </a:p>
                  </a:txBody>
                  <a:tcPr/>
                </a:tc>
                <a:tc>
                  <a:txBody>
                    <a:bodyPr/>
                    <a:lstStyle/>
                    <a:p>
                      <a:r>
                        <a:rPr lang="en-US" dirty="0"/>
                        <a:t>100%</a:t>
                      </a:r>
                    </a:p>
                  </a:txBody>
                  <a:tcPr/>
                </a:tc>
                <a:extLst>
                  <a:ext uri="{0D108BD9-81ED-4DB2-BD59-A6C34878D82A}">
                    <a16:rowId xmlns:a16="http://schemas.microsoft.com/office/drawing/2014/main" val="1377458991"/>
                  </a:ext>
                </a:extLst>
              </a:tr>
              <a:tr h="410259">
                <a:tc>
                  <a:txBody>
                    <a:bodyPr/>
                    <a:lstStyle/>
                    <a:p>
                      <a:r>
                        <a:rPr lang="en-US" dirty="0"/>
                        <a:t>Australia</a:t>
                      </a:r>
                    </a:p>
                  </a:txBody>
                  <a:tcPr/>
                </a:tc>
                <a:tc>
                  <a:txBody>
                    <a:bodyPr/>
                    <a:lstStyle/>
                    <a:p>
                      <a:r>
                        <a:rPr lang="en-US" dirty="0"/>
                        <a:t>75%</a:t>
                      </a:r>
                    </a:p>
                  </a:txBody>
                  <a:tcPr/>
                </a:tc>
                <a:tc>
                  <a:txBody>
                    <a:bodyPr/>
                    <a:lstStyle/>
                    <a:p>
                      <a:r>
                        <a:rPr lang="en-US" dirty="0"/>
                        <a:t>100%</a:t>
                      </a:r>
                    </a:p>
                  </a:txBody>
                  <a:tcPr/>
                </a:tc>
                <a:extLst>
                  <a:ext uri="{0D108BD9-81ED-4DB2-BD59-A6C34878D82A}">
                    <a16:rowId xmlns:a16="http://schemas.microsoft.com/office/drawing/2014/main" val="2268234495"/>
                  </a:ext>
                </a:extLst>
              </a:tr>
              <a:tr h="394313">
                <a:tc>
                  <a:txBody>
                    <a:bodyPr/>
                    <a:lstStyle/>
                    <a:p>
                      <a:r>
                        <a:rPr lang="en-US" dirty="0"/>
                        <a:t>China</a:t>
                      </a:r>
                    </a:p>
                  </a:txBody>
                  <a:tcPr/>
                </a:tc>
                <a:tc>
                  <a:txBody>
                    <a:bodyPr/>
                    <a:lstStyle/>
                    <a:p>
                      <a:r>
                        <a:rPr lang="en-US" dirty="0"/>
                        <a:t>83.3%</a:t>
                      </a:r>
                    </a:p>
                  </a:txBody>
                  <a:tcPr/>
                </a:tc>
                <a:tc>
                  <a:txBody>
                    <a:bodyPr/>
                    <a:lstStyle/>
                    <a:p>
                      <a:r>
                        <a:rPr lang="en-US" dirty="0"/>
                        <a:t>95.3%</a:t>
                      </a:r>
                    </a:p>
                  </a:txBody>
                  <a:tcPr/>
                </a:tc>
                <a:extLst>
                  <a:ext uri="{0D108BD9-81ED-4DB2-BD59-A6C34878D82A}">
                    <a16:rowId xmlns:a16="http://schemas.microsoft.com/office/drawing/2014/main" val="1249633115"/>
                  </a:ext>
                </a:extLst>
              </a:tr>
              <a:tr h="394313">
                <a:tc>
                  <a:txBody>
                    <a:bodyPr/>
                    <a:lstStyle/>
                    <a:p>
                      <a:r>
                        <a:rPr lang="en-US" dirty="0"/>
                        <a:t>India</a:t>
                      </a:r>
                    </a:p>
                  </a:txBody>
                  <a:tcPr/>
                </a:tc>
                <a:tc>
                  <a:txBody>
                    <a:bodyPr/>
                    <a:lstStyle/>
                    <a:p>
                      <a:r>
                        <a:rPr lang="en-US" dirty="0"/>
                        <a:t>25%</a:t>
                      </a:r>
                    </a:p>
                  </a:txBody>
                  <a:tcPr/>
                </a:tc>
                <a:tc>
                  <a:txBody>
                    <a:bodyPr/>
                    <a:lstStyle/>
                    <a:p>
                      <a:r>
                        <a:rPr lang="en-US" dirty="0"/>
                        <a:t>100%</a:t>
                      </a:r>
                    </a:p>
                  </a:txBody>
                  <a:tcPr/>
                </a:tc>
                <a:extLst>
                  <a:ext uri="{0D108BD9-81ED-4DB2-BD59-A6C34878D82A}">
                    <a16:rowId xmlns:a16="http://schemas.microsoft.com/office/drawing/2014/main" val="3662913047"/>
                  </a:ext>
                </a:extLst>
              </a:tr>
              <a:tr h="394313">
                <a:tc>
                  <a:txBody>
                    <a:bodyPr/>
                    <a:lstStyle/>
                    <a:p>
                      <a:r>
                        <a:rPr lang="en-US" dirty="0"/>
                        <a:t>Mexico</a:t>
                      </a:r>
                    </a:p>
                  </a:txBody>
                  <a:tcPr/>
                </a:tc>
                <a:tc>
                  <a:txBody>
                    <a:bodyPr/>
                    <a:lstStyle/>
                    <a:p>
                      <a:r>
                        <a:rPr lang="en-US" dirty="0"/>
                        <a:t>54.</a:t>
                      </a:r>
                      <a:r>
                        <a:rPr lang="en-US" altLang="zh-CN" dirty="0"/>
                        <a:t>2</a:t>
                      </a:r>
                      <a:r>
                        <a:rPr lang="en-US" dirty="0"/>
                        <a:t>%</a:t>
                      </a:r>
                    </a:p>
                  </a:txBody>
                  <a:tcPr/>
                </a:tc>
                <a:tc>
                  <a:txBody>
                    <a:bodyPr/>
                    <a:lstStyle/>
                    <a:p>
                      <a:r>
                        <a:rPr lang="en-US" dirty="0"/>
                        <a:t>100%</a:t>
                      </a:r>
                    </a:p>
                  </a:txBody>
                  <a:tcPr/>
                </a:tc>
                <a:extLst>
                  <a:ext uri="{0D108BD9-81ED-4DB2-BD59-A6C34878D82A}">
                    <a16:rowId xmlns:a16="http://schemas.microsoft.com/office/drawing/2014/main" val="2301080156"/>
                  </a:ext>
                </a:extLst>
              </a:tr>
            </a:tbl>
          </a:graphicData>
        </a:graphic>
      </p:graphicFrame>
    </p:spTree>
    <p:extLst>
      <p:ext uri="{BB962C8B-B14F-4D97-AF65-F5344CB8AC3E}">
        <p14:creationId xmlns:p14="http://schemas.microsoft.com/office/powerpoint/2010/main" val="213867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26B58-BDA5-D0A2-ED58-E7D461C5FAE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DE0BD22-EFA3-74C2-5B87-44507A39A2EB}"/>
              </a:ext>
            </a:extLst>
          </p:cNvPr>
          <p:cNvSpPr>
            <a:spLocks noGrp="1"/>
          </p:cNvSpPr>
          <p:nvPr>
            <p:ph idx="1"/>
          </p:nvPr>
        </p:nvSpPr>
        <p:spPr>
          <a:xfrm>
            <a:off x="1371600" y="1766170"/>
            <a:ext cx="9601200" cy="4101230"/>
          </a:xfrm>
        </p:spPr>
        <p:txBody>
          <a:bodyPr/>
          <a:lstStyle/>
          <a:p>
            <a:pPr marL="0" indent="0">
              <a:buNone/>
            </a:pPr>
            <a:r>
              <a:rPr lang="en-US" b="1" dirty="0"/>
              <a:t>The Mercury Retrograde has significant impact on market volatility and returns</a:t>
            </a:r>
          </a:p>
          <a:p>
            <a:r>
              <a:rPr lang="en-US" b="1" dirty="0"/>
              <a:t>Self-Fulfilling Prophecies:</a:t>
            </a:r>
            <a:r>
              <a:rPr lang="en-US" dirty="0"/>
              <a:t> Some market participants might believe in or be influenced by Mercury Retrograde, </a:t>
            </a:r>
            <a:r>
              <a:rPr lang="en-US" b="1" dirty="0"/>
              <a:t>expecting volatility and thus contributing to increased market activity</a:t>
            </a:r>
            <a:r>
              <a:rPr lang="en-US" dirty="0"/>
              <a:t>. In behavioral finance, beliefs—rational or not—can drive trading volume and volatility, particularly if a large number of traders act on similar expectations.</a:t>
            </a:r>
          </a:p>
          <a:p>
            <a:r>
              <a:rPr lang="en-US" b="1" dirty="0"/>
              <a:t>Cognitive Bias and Decision-Making</a:t>
            </a:r>
            <a:r>
              <a:rPr lang="en-US" dirty="0"/>
              <a:t>: During periods when Mercury is retrograde, traders who believe in its effects might be prone to increased caution or hasty decisions, impacting market behavior. While this could theoretically add to volatility, this effect would likely be minimal and hard to separate from broader market influences.</a:t>
            </a:r>
          </a:p>
        </p:txBody>
      </p:sp>
    </p:spTree>
    <p:extLst>
      <p:ext uri="{BB962C8B-B14F-4D97-AF65-F5344CB8AC3E}">
        <p14:creationId xmlns:p14="http://schemas.microsoft.com/office/powerpoint/2010/main" val="200774033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{63B468B7-87BF-EE44-92F8-8A1F5DC1458B}tf10001072</Template>
  <TotalTime>10964</TotalTime>
  <Words>1804</Words>
  <Application>Microsoft Macintosh PowerPoint</Application>
  <PresentationFormat>Widescreen</PresentationFormat>
  <Paragraphs>483</Paragraphs>
  <Slides>19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.SF NS</vt:lpstr>
      <vt:lpstr>Miller Text</vt:lpstr>
      <vt:lpstr>Aptos</vt:lpstr>
      <vt:lpstr>Arial</vt:lpstr>
      <vt:lpstr>Calibri</vt:lpstr>
      <vt:lpstr>Cambria Math</vt:lpstr>
      <vt:lpstr>Franklin Gothic Book</vt:lpstr>
      <vt:lpstr>Times New Roman</vt:lpstr>
      <vt:lpstr>Crop</vt:lpstr>
      <vt:lpstr>MERCURY RETROGRADE EFFECT ON CAPITAL MARKET </vt:lpstr>
      <vt:lpstr>Catalog</vt:lpstr>
      <vt:lpstr>Mercury Retrograde</vt:lpstr>
      <vt:lpstr>Origins of astrology </vt:lpstr>
      <vt:lpstr>The spread of astrology</vt:lpstr>
      <vt:lpstr>Mercury Retrograde</vt:lpstr>
      <vt:lpstr>Mercury Retrograde in Modern Times</vt:lpstr>
      <vt:lpstr>Mercury Retrograde and the stock market</vt:lpstr>
      <vt:lpstr>Hypothesis</vt:lpstr>
      <vt:lpstr>Model 1</vt:lpstr>
      <vt:lpstr>Data </vt:lpstr>
      <vt:lpstr>Data</vt:lpstr>
      <vt:lpstr>Data</vt:lpstr>
      <vt:lpstr>Data </vt:lpstr>
      <vt:lpstr>Results and conclusions</vt:lpstr>
      <vt:lpstr>Model 2</vt:lpstr>
      <vt:lpstr>Model 3</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Swift Sherry</dc:creator>
  <cp:lastModifiedBy>Swift Sherry</cp:lastModifiedBy>
  <cp:revision>38</cp:revision>
  <dcterms:created xsi:type="dcterms:W3CDTF">2024-11-02T02:26:39Z</dcterms:created>
  <dcterms:modified xsi:type="dcterms:W3CDTF">2024-11-14T20:21:54Z</dcterms:modified>
</cp:coreProperties>
</file>